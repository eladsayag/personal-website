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77" r:id="rId1"/>
  </p:sldMasterIdLst>
  <p:notesMasterIdLst>
    <p:notesMasterId r:id="rId30"/>
  </p:notesMasterIdLst>
  <p:sldIdLst>
    <p:sldId id="256" r:id="rId2"/>
    <p:sldId id="257" r:id="rId3"/>
    <p:sldId id="288" r:id="rId4"/>
    <p:sldId id="258" r:id="rId5"/>
    <p:sldId id="263" r:id="rId6"/>
    <p:sldId id="261" r:id="rId7"/>
    <p:sldId id="264" r:id="rId8"/>
    <p:sldId id="265" r:id="rId9"/>
    <p:sldId id="268" r:id="rId10"/>
    <p:sldId id="269" r:id="rId11"/>
    <p:sldId id="270" r:id="rId12"/>
    <p:sldId id="271" r:id="rId13"/>
    <p:sldId id="275" r:id="rId14"/>
    <p:sldId id="276" r:id="rId15"/>
    <p:sldId id="278" r:id="rId16"/>
    <p:sldId id="274" r:id="rId17"/>
    <p:sldId id="279" r:id="rId18"/>
    <p:sldId id="280" r:id="rId19"/>
    <p:sldId id="282" r:id="rId20"/>
    <p:sldId id="277" r:id="rId21"/>
    <p:sldId id="283" r:id="rId22"/>
    <p:sldId id="281" r:id="rId23"/>
    <p:sldId id="273" r:id="rId24"/>
    <p:sldId id="284" r:id="rId25"/>
    <p:sldId id="286" r:id="rId26"/>
    <p:sldId id="287" r:id="rId27"/>
    <p:sldId id="285" r:id="rId28"/>
    <p:sldId id="289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001" autoAdjust="0"/>
    <p:restoredTop sz="94660"/>
  </p:normalViewPr>
  <p:slideViewPr>
    <p:cSldViewPr snapToGrid="0">
      <p:cViewPr varScale="1">
        <p:scale>
          <a:sx n="59" d="100"/>
          <a:sy n="59" d="100"/>
        </p:scale>
        <p:origin x="126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FF8B10-11EB-4B6C-A478-CDFA99A8D17A}" type="datetimeFigureOut">
              <a:rPr lang="en-IL" smtClean="0"/>
              <a:t>27/08/2026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314EA8-6CED-4B18-A9FB-B30F2D7A249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093252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להסביר שאם מסתכלים על אחד חלקי אורך בריבוע אז הכחולים והאדומים נותנים אותו דבר בגלל משפט פיתגורס ההפוך</a:t>
            </a:r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14EA8-6CED-4B18-A9FB-B30F2D7A2491}" type="slidenum">
              <a:rPr lang="en-IL" smtClean="0"/>
              <a:t>15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360156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dirty="0"/>
              <a:t>להסביר שאם מסתכלים על אחד חלקי אורך בריבוע אז האדומים והירוקים נותנים אותו דבר בגלל משפט פיתגורס ההפוך</a:t>
            </a:r>
            <a:endParaRPr lang="en-IL" dirty="0"/>
          </a:p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14EA8-6CED-4B18-A9FB-B30F2D7A2491}" type="slidenum">
              <a:rPr lang="en-IL" smtClean="0"/>
              <a:t>16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366581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וכו' וכו' </a:t>
            </a:r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14EA8-6CED-4B18-A9FB-B30F2D7A2491}" type="slidenum">
              <a:rPr lang="en-IL" smtClean="0"/>
              <a:t>18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7681401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זווית שנשענת היא חצי מהזווית מהמרכז של המעגל אבל גם הרדיוס הוא פי 2 – אורך קשת זה זווית </a:t>
            </a:r>
            <a:r>
              <a:rPr lang="he-IL"/>
              <a:t>כפול רדיוס.</a:t>
            </a:r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14EA8-6CED-4B18-A9FB-B30F2D7A2491}" type="slidenum">
              <a:rPr lang="en-IL" smtClean="0"/>
              <a:t>19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948909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359B7-BC09-484D-B0BD-5ABDD85B445F}" type="datetimeFigureOut">
              <a:rPr lang="en-IL" smtClean="0"/>
              <a:t>27/08/2026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90683-D003-4344-B680-7E12826F3C7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399778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359B7-BC09-484D-B0BD-5ABDD85B445F}" type="datetimeFigureOut">
              <a:rPr lang="en-IL" smtClean="0"/>
              <a:t>27/08/2026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90683-D003-4344-B680-7E12826F3C7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51984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359B7-BC09-484D-B0BD-5ABDD85B445F}" type="datetimeFigureOut">
              <a:rPr lang="en-IL" smtClean="0"/>
              <a:t>27/08/2026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90683-D003-4344-B680-7E12826F3C7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90262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359B7-BC09-484D-B0BD-5ABDD85B445F}" type="datetimeFigureOut">
              <a:rPr lang="en-IL" smtClean="0"/>
              <a:t>27/08/2026</a:t>
            </a:fld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90683-D003-4344-B680-7E12826F3C7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8188808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359B7-BC09-484D-B0BD-5ABDD85B445F}" type="datetimeFigureOut">
              <a:rPr lang="en-IL" smtClean="0"/>
              <a:t>27/08/2026</a:t>
            </a:fld>
            <a:endParaRPr lang="en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90683-D003-4344-B680-7E12826F3C7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680443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359B7-BC09-484D-B0BD-5ABDD85B445F}" type="datetimeFigureOut">
              <a:rPr lang="en-IL" smtClean="0"/>
              <a:t>27/08/2026</a:t>
            </a:fld>
            <a:endParaRPr lang="en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90683-D003-4344-B680-7E12826F3C7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28909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359B7-BC09-484D-B0BD-5ABDD85B445F}" type="datetimeFigureOut">
              <a:rPr lang="en-IL" smtClean="0"/>
              <a:t>27/08/2026</a:t>
            </a:fld>
            <a:endParaRPr lang="en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90683-D003-4344-B680-7E12826F3C7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755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359B7-BC09-484D-B0BD-5ABDD85B445F}" type="datetimeFigureOut">
              <a:rPr lang="en-IL" smtClean="0"/>
              <a:t>27/08/2026</a:t>
            </a:fld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90683-D003-4344-B680-7E12826F3C7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2559527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359B7-BC09-484D-B0BD-5ABDD85B445F}" type="datetimeFigureOut">
              <a:rPr lang="en-IL" smtClean="0"/>
              <a:t>27/08/2026</a:t>
            </a:fld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90683-D003-4344-B680-7E12826F3C7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806539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359B7-BC09-484D-B0BD-5ABDD85B445F}" type="datetimeFigureOut">
              <a:rPr lang="en-IL" smtClean="0"/>
              <a:t>27/08/2026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90683-D003-4344-B680-7E12826F3C7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73488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359B7-BC09-484D-B0BD-5ABDD85B445F}" type="datetimeFigureOut">
              <a:rPr lang="en-IL" smtClean="0"/>
              <a:t>27/08/2026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90683-D003-4344-B680-7E12826F3C7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023083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0359B7-BC09-484D-B0BD-5ABDD85B445F}" type="datetimeFigureOut">
              <a:rPr lang="en-IL" smtClean="0"/>
              <a:t>27/08/2026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090683-D003-4344-B680-7E12826F3C7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4690702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78" r:id="rId1"/>
    <p:sldLayoutId id="2147483979" r:id="rId2"/>
    <p:sldLayoutId id="2147483980" r:id="rId3"/>
    <p:sldLayoutId id="2147483981" r:id="rId4"/>
    <p:sldLayoutId id="2147483982" r:id="rId5"/>
    <p:sldLayoutId id="2147483983" r:id="rId6"/>
    <p:sldLayoutId id="2147483984" r:id="rId7"/>
    <p:sldLayoutId id="2147483985" r:id="rId8"/>
    <p:sldLayoutId id="2147483986" r:id="rId9"/>
    <p:sldLayoutId id="2147483987" r:id="rId10"/>
    <p:sldLayoutId id="21474839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2.png"/><Relationship Id="rId3" Type="http://schemas.openxmlformats.org/officeDocument/2006/relationships/image" Target="../media/image33.png"/><Relationship Id="rId7" Type="http://schemas.openxmlformats.org/officeDocument/2006/relationships/image" Target="../media/image36.png"/><Relationship Id="rId12" Type="http://schemas.openxmlformats.org/officeDocument/2006/relationships/image" Target="../media/image41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11" Type="http://schemas.openxmlformats.org/officeDocument/2006/relationships/image" Target="../media/image40.png"/><Relationship Id="rId5" Type="http://schemas.openxmlformats.org/officeDocument/2006/relationships/image" Target="../media/image33.wmf"/><Relationship Id="rId10" Type="http://schemas.openxmlformats.org/officeDocument/2006/relationships/image" Target="../media/image39.png"/><Relationship Id="rId4" Type="http://schemas.openxmlformats.org/officeDocument/2006/relationships/oleObject" Target="../embeddings/oleObject1.bin"/><Relationship Id="rId9" Type="http://schemas.openxmlformats.org/officeDocument/2006/relationships/image" Target="../media/image3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5.png"/><Relationship Id="rId4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BC0BC-ABF8-5F99-412B-6281BEA376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he-IL" sz="6000" dirty="0"/>
              <a:t>מה הסיכוי שנהיה זרים?</a:t>
            </a:r>
            <a:endParaRPr lang="en-IL" sz="6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0B247F-0A36-2383-F983-C4730384516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he-IL" sz="2400" dirty="0"/>
              <a:t>אלעד סייג</a:t>
            </a:r>
            <a:endParaRPr lang="en-IL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E699D9-5B29-A4B1-B948-1EE76ACBC458}"/>
              </a:ext>
            </a:extLst>
          </p:cNvPr>
          <p:cNvSpPr txBox="1"/>
          <p:nvPr/>
        </p:nvSpPr>
        <p:spPr>
          <a:xfrm>
            <a:off x="741680" y="4613255"/>
            <a:ext cx="105054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0" i="0" dirty="0">
                <a:effectLst/>
                <a:latin typeface="Inter"/>
              </a:rPr>
              <a:t>“The mathematician does not study pure mathematics because it is useful; he studies it because he delights in it and he delights in it because it is beautiful” -  Henri Poincare</a:t>
            </a:r>
          </a:p>
        </p:txBody>
      </p:sp>
      <p:pic>
        <p:nvPicPr>
          <p:cNvPr id="6146" name="Picture 2" descr="No Longer Strangers | worldchallenge.org">
            <a:extLst>
              <a:ext uri="{FF2B5EF4-FFF2-40B4-BE49-F238E27FC236}">
                <a16:creationId xmlns:a16="http://schemas.microsoft.com/office/drawing/2014/main" id="{24E65B97-FF71-832B-90B7-EC57CDF977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217" y="162067"/>
            <a:ext cx="3990658" cy="22447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15636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C5A2C-3B69-4FD9-0C91-8F1441BB3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-86359"/>
            <a:ext cx="9905998" cy="1905000"/>
          </a:xfrm>
        </p:spPr>
        <p:txBody>
          <a:bodyPr/>
          <a:lstStyle/>
          <a:p>
            <a:pPr algn="r" rtl="1"/>
            <a:r>
              <a:rPr lang="he-IL" sz="4000" dirty="0"/>
              <a:t>ניסוח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55F1F47-C188-740B-7EAE-D058421A63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4160" y="1818641"/>
                <a:ext cx="11308080" cy="3972560"/>
              </a:xfrm>
            </p:spPr>
            <p:txBody>
              <a:bodyPr>
                <a:normAutofit/>
              </a:bodyPr>
              <a:lstStyle/>
              <a:p>
                <a:pPr algn="r" rtl="1"/>
                <a:r>
                  <a:rPr lang="he-IL" sz="2800" dirty="0"/>
                  <a:t>שני מספרים שלמים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he-IL" sz="2800" dirty="0"/>
                  <a:t> הם </a:t>
                </a:r>
                <a:r>
                  <a:rPr lang="he-IL" sz="2800" b="1" u="sng" dirty="0"/>
                  <a:t>זרים</a:t>
                </a:r>
                <a:r>
                  <a:rPr lang="he-IL" sz="2800" dirty="0"/>
                  <a:t> אם אין להם מחלק משותף.</a:t>
                </a:r>
              </a:p>
              <a:p>
                <a:pPr marL="0" indent="0" algn="r" rtl="1">
                  <a:buNone/>
                </a:pPr>
                <a:endParaRPr lang="he-IL" sz="2800" dirty="0"/>
              </a:p>
              <a:p>
                <a:pPr algn="r" rtl="1"/>
                <a:r>
                  <a:rPr lang="he-IL" sz="2800" u="sng" dirty="0"/>
                  <a:t>דוגמה</a:t>
                </a:r>
                <a:r>
                  <a:rPr lang="he-IL" sz="2800" dirty="0"/>
                  <a:t>: 43,49 זרים. 10,15 לא זרים. </a:t>
                </a:r>
              </a:p>
              <a:p>
                <a:pPr algn="r" rtl="1"/>
                <a:endParaRPr lang="he-IL" sz="2800" b="1" u="sng" dirty="0"/>
              </a:p>
              <a:p>
                <a:pPr algn="r" rtl="1"/>
                <a:r>
                  <a:rPr lang="he-IL" sz="2800" b="1" u="sng" dirty="0"/>
                  <a:t>שאלה</a:t>
                </a:r>
                <a:r>
                  <a:rPr lang="he-IL" sz="2800" dirty="0"/>
                  <a:t>:</a:t>
                </a:r>
                <a:r>
                  <a:rPr lang="en-US" sz="2800" dirty="0"/>
                  <a:t> </a:t>
                </a:r>
                <a:r>
                  <a:rPr lang="he-IL" sz="2800" dirty="0"/>
                  <a:t>אנחנו מגרילים שני מספרים שלמים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he-IL" sz="2800" dirty="0"/>
                  <a:t> ברנדום, מה הסיכוי שהם זרים?</a:t>
                </a:r>
                <a:endParaRPr lang="en-US" sz="2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55F1F47-C188-740B-7EAE-D058421A63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4160" y="1818641"/>
                <a:ext cx="11308080" cy="3972560"/>
              </a:xfrm>
              <a:blipFill>
                <a:blip r:embed="rId2"/>
                <a:stretch>
                  <a:fillRect t="-2607" r="-1024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5964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4CC7E08-1CE0-9335-A871-CA6759F1276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296" t="28254" b="19365"/>
          <a:stretch/>
        </p:blipFill>
        <p:spPr>
          <a:xfrm>
            <a:off x="322848" y="1436915"/>
            <a:ext cx="11546304" cy="3592286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B2C1B165-5220-FAF2-F452-755060CE7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sz="4000" dirty="0"/>
              <a:t>נסמלץ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6222977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9B238E5C-2CA6-18BD-0445-0873820C4A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646" y="1258503"/>
            <a:ext cx="3786939" cy="2589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9EEC4C44-E7FA-81B3-19DC-CC7D11C912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3622" y="892590"/>
            <a:ext cx="4382158" cy="2458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תוצאת תמונה עבור ‪confused guy meme‬‏">
            <a:extLst>
              <a:ext uri="{FF2B5EF4-FFF2-40B4-BE49-F238E27FC236}">
                <a16:creationId xmlns:a16="http://schemas.microsoft.com/office/drawing/2014/main" id="{7882755A-F582-9B96-C803-9FC3B44A60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1446" y="4427538"/>
            <a:ext cx="3343593" cy="18817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A90A2E0-5081-29F7-85BE-0E1FBFF03ECD}"/>
                  </a:ext>
                </a:extLst>
              </p:cNvPr>
              <p:cNvSpPr txBox="1"/>
              <p:nvPr/>
            </p:nvSpPr>
            <p:spPr>
              <a:xfrm>
                <a:off x="5171440" y="1346200"/>
                <a:ext cx="1849120" cy="277544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sz="9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96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sSup>
                            <m:sSupPr>
                              <m:ctrlPr>
                                <a:rPr lang="en-US" sz="9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96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en-US" sz="9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IL" sz="96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A90A2E0-5081-29F7-85BE-0E1FBFF03E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1440" y="1346200"/>
                <a:ext cx="1849120" cy="277544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7991089-05E9-86B0-93EB-6F05F2330C32}"/>
                  </a:ext>
                </a:extLst>
              </p:cNvPr>
              <p:cNvSpPr txBox="1"/>
              <p:nvPr/>
            </p:nvSpPr>
            <p:spPr>
              <a:xfrm>
                <a:off x="7020559" y="5826910"/>
                <a:ext cx="3230345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∼0.607927101854</m:t>
                      </m:r>
                    </m:oMath>
                  </m:oMathPara>
                </a14:m>
                <a:endParaRPr lang="en-IL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7991089-05E9-86B0-93EB-6F05F2330C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0559" y="5826910"/>
                <a:ext cx="3230345" cy="276999"/>
              </a:xfrm>
              <a:prstGeom prst="rect">
                <a:avLst/>
              </a:prstGeom>
              <a:blipFill>
                <a:blip r:embed="rId6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29753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C5A2C-3B69-4FD9-0C91-8F1441BB3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14299"/>
            <a:ext cx="9905998" cy="1905000"/>
          </a:xfrm>
        </p:spPr>
        <p:txBody>
          <a:bodyPr/>
          <a:lstStyle/>
          <a:p>
            <a:pPr algn="r" rtl="1"/>
            <a:r>
              <a:rPr lang="he-IL" sz="4000" dirty="0"/>
              <a:t>קצת הסתברות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55F1F47-C188-740B-7EAE-D058421A63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60400" y="1818641"/>
                <a:ext cx="10387011" cy="3972560"/>
              </a:xfrm>
            </p:spPr>
            <p:txBody>
              <a:bodyPr>
                <a:normAutofit/>
              </a:bodyPr>
              <a:lstStyle/>
              <a:p>
                <a:pPr algn="r" rtl="1"/>
                <a:r>
                  <a:rPr lang="he-IL" sz="2800" dirty="0"/>
                  <a:t>מה הסיכוי שמספר הוא זוגי? </a:t>
                </a:r>
                <a:endParaRPr lang="en-US" sz="2800" dirty="0"/>
              </a:p>
              <a:p>
                <a:pPr marL="0" indent="0" algn="r" rtl="1">
                  <a:buNone/>
                </a:pPr>
                <a:r>
                  <a:rPr lang="en-US" sz="2800" dirty="0"/>
                  <a:t>½ </a:t>
                </a:r>
                <a:r>
                  <a:rPr lang="he-IL" sz="2800" dirty="0"/>
                  <a:t>.</a:t>
                </a:r>
                <a:endParaRPr lang="en-US" sz="2800" dirty="0"/>
              </a:p>
              <a:p>
                <a:pPr algn="r" rtl="1"/>
                <a:r>
                  <a:rPr lang="he-IL" sz="2800" dirty="0"/>
                  <a:t>מה הסיכוי ששני המספרים שלי זוגיים </a:t>
                </a:r>
                <a:r>
                  <a:rPr lang="en-US" sz="2800" dirty="0"/>
                  <a:t>?</a:t>
                </a:r>
              </a:p>
              <a:p>
                <a:pPr marL="0" indent="0" algn="r" rtl="1">
                  <a:buNone/>
                </a:pPr>
                <a:r>
                  <a:rPr lang="en-US" sz="2800" dirty="0"/>
                  <a:t>¼ </a:t>
                </a:r>
                <a:r>
                  <a:rPr lang="he-IL" sz="2800" dirty="0"/>
                  <a:t>.</a:t>
                </a:r>
                <a:endParaRPr lang="en-US" sz="2800" dirty="0"/>
              </a:p>
              <a:p>
                <a:pPr algn="r" rtl="1"/>
                <a:r>
                  <a:rPr lang="he-IL" sz="2800" dirty="0"/>
                  <a:t>בהינתן ראשוני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he-IL" sz="2800" dirty="0"/>
                  <a:t>, מה הסיכוי ששני המספרים שלי מתחלקים ב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he-IL" sz="2800" dirty="0"/>
                  <a:t>?</a:t>
                </a:r>
                <a:endParaRPr lang="en-US" sz="2800" dirty="0"/>
              </a:p>
              <a:p>
                <a:pPr marL="0" indent="0" algn="r" rtl="1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he-IL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he-IL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he-IL" sz="2800" dirty="0"/>
                  <a:t> .</a:t>
                </a:r>
              </a:p>
              <a:p>
                <a:pPr algn="r" rtl="1"/>
                <a:endParaRPr lang="he-IL" sz="2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55F1F47-C188-740B-7EAE-D058421A63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60400" y="1818641"/>
                <a:ext cx="10387011" cy="3972560"/>
              </a:xfrm>
              <a:blipFill>
                <a:blip r:embed="rId2"/>
                <a:stretch>
                  <a:fillRect t="-2914" r="-1291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54678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C5A2C-3B69-4FD9-0C91-8F1441BB3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14299"/>
            <a:ext cx="9905998" cy="1905000"/>
          </a:xfrm>
        </p:spPr>
        <p:txBody>
          <a:bodyPr/>
          <a:lstStyle/>
          <a:p>
            <a:pPr algn="r" rtl="1"/>
            <a:r>
              <a:rPr lang="he-IL" sz="4000" dirty="0"/>
              <a:t>שקופית בשביל </a:t>
            </a:r>
            <a:r>
              <a:rPr lang="he-IL" sz="4000" strike="sngStrike" dirty="0"/>
              <a:t>מעצבנים</a:t>
            </a:r>
            <a:r>
              <a:rPr lang="en-US" sz="4000" dirty="0"/>
              <a:t> </a:t>
            </a:r>
            <a:r>
              <a:rPr lang="he-IL" sz="4000" dirty="0"/>
              <a:t>פורמליות</a:t>
            </a:r>
            <a:endParaRPr lang="en-IL" strike="sngStrik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55F1F47-C188-740B-7EAE-D058421A63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60400" y="1818641"/>
                <a:ext cx="10387011" cy="3972560"/>
              </a:xfrm>
            </p:spPr>
            <p:txBody>
              <a:bodyPr>
                <a:normAutofit/>
              </a:bodyPr>
              <a:lstStyle/>
              <a:p>
                <a:pPr algn="r" rtl="1"/>
                <a:r>
                  <a:rPr lang="he-IL" sz="2800" dirty="0"/>
                  <a:t>צריך לפרמל בדיוק מה זה אומר לבחור מספר שלם ב"רנדום". </a:t>
                </a:r>
              </a:p>
              <a:p>
                <a:pPr algn="r" rtl="1"/>
                <a:r>
                  <a:rPr lang="he-IL" sz="2800" dirty="0"/>
                  <a:t>מבחינתנו אפשר לחשוב על זה שיש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he-IL" sz="2800" dirty="0"/>
                  <a:t> ממש גדול ושאנחנו מחשבים את ההסתברות שאנחנו לוקחים את המספרים שלנו להיות חסומים על ידי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he-IL" sz="2800" dirty="0"/>
                  <a:t> באופן שווה (כלומר ל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0,1,…,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he-IL" sz="2800" dirty="0"/>
                  <a:t> סיכוי שווה של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he-IL" sz="2800" dirty="0"/>
                  <a:t>).</a:t>
                </a:r>
                <a:endParaRPr lang="en-US" sz="2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55F1F47-C188-740B-7EAE-D058421A63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60400" y="1818641"/>
                <a:ext cx="10387011" cy="3972560"/>
              </a:xfrm>
              <a:blipFill>
                <a:blip r:embed="rId2"/>
                <a:stretch>
                  <a:fillRect t="-2607" r="-1115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157095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C5A2C-3B69-4FD9-0C91-8F1441BB3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14299"/>
            <a:ext cx="9905998" cy="1905000"/>
          </a:xfrm>
        </p:spPr>
        <p:txBody>
          <a:bodyPr/>
          <a:lstStyle/>
          <a:p>
            <a:pPr algn="r" rtl="1"/>
            <a:r>
              <a:rPr lang="he-IL" sz="4000" dirty="0"/>
              <a:t>אי תלות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55F1F47-C188-740B-7EAE-D058421A63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60400" y="1818641"/>
                <a:ext cx="10387011" cy="3972560"/>
              </a:xfrm>
            </p:spPr>
            <p:txBody>
              <a:bodyPr>
                <a:normAutofit/>
              </a:bodyPr>
              <a:lstStyle/>
              <a:p>
                <a:pPr algn="r" rtl="1"/>
                <a:r>
                  <a:rPr lang="he-IL" sz="2800" dirty="0"/>
                  <a:t>בהינתן שידוע לי מה הזוגיות של מספר רנדומי, זה לא אומר כלום לגבי החלוקה שלו ב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he-IL" sz="2800" dirty="0"/>
                  <a:t>.</a:t>
                </a:r>
              </a:p>
              <a:p>
                <a:pPr marL="0" indent="0" algn="r" rtl="1">
                  <a:buNone/>
                </a:pPr>
                <a:endParaRPr lang="he-IL" sz="2800" dirty="0"/>
              </a:p>
              <a:p>
                <a:pPr algn="r" rtl="1"/>
                <a:r>
                  <a:rPr lang="he-IL" sz="2800" dirty="0"/>
                  <a:t>הסבר – הסיכוי שהמספר מתחלק גם ב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he-IL" sz="2800" dirty="0"/>
                  <a:t> וגם ב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he-IL" sz="2800" dirty="0"/>
                  <a:t> זה הסיכוי שהוא מתחלק ב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he-IL" sz="2800" dirty="0"/>
                  <a:t> , כלומר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he-IL" sz="2800" dirty="0"/>
                  <a:t> שזה מכפלת ההסתברויות שהוא זוגי ומתחלק ב3.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55F1F47-C188-740B-7EAE-D058421A63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60400" y="1818641"/>
                <a:ext cx="10387011" cy="3972560"/>
              </a:xfrm>
              <a:blipFill>
                <a:blip r:embed="rId2"/>
                <a:stretch>
                  <a:fillRect l="-293" t="-2607" r="-1115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6716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C5A2C-3B69-4FD9-0C91-8F1441BB3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14299"/>
            <a:ext cx="9905998" cy="1905000"/>
          </a:xfrm>
        </p:spPr>
        <p:txBody>
          <a:bodyPr/>
          <a:lstStyle/>
          <a:p>
            <a:pPr algn="r" rtl="1"/>
            <a:r>
              <a:rPr lang="he-IL" sz="4000" dirty="0"/>
              <a:t>אי תלות – מתקרבים לנוסחה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5F1F47-C188-740B-7EAE-D058421A63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400" y="1889760"/>
            <a:ext cx="10387011" cy="3901441"/>
          </a:xfrm>
        </p:spPr>
        <p:txBody>
          <a:bodyPr>
            <a:normAutofit/>
          </a:bodyPr>
          <a:lstStyle/>
          <a:p>
            <a:pPr algn="r" rtl="1"/>
            <a:r>
              <a:rPr lang="he-IL" sz="2800" dirty="0"/>
              <a:t>מהאי תלות נקבל</a:t>
            </a:r>
            <a:r>
              <a:rPr lang="en-US" sz="2800" dirty="0"/>
              <a:t> </a:t>
            </a:r>
            <a:r>
              <a:rPr lang="he-IL" sz="2800" dirty="0"/>
              <a:t> (המכפלה היא על אוסף כל הראשוניים)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E09535D-FC9D-4060-CE94-F0A1E924E914}"/>
                  </a:ext>
                </a:extLst>
              </p:cNvPr>
              <p:cNvSpPr txBox="1"/>
              <p:nvPr/>
            </p:nvSpPr>
            <p:spPr>
              <a:xfrm>
                <a:off x="-284480" y="2799518"/>
                <a:ext cx="12760960" cy="174156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ℙ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ℙ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𝑐𝑜𝑝𝑟𝑖𝑚𝑒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32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nary>
                        <m:naryPr>
                          <m:chr m:val="∏"/>
                          <m:supHide m:val="on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/>
                        <m:e>
                          <m:r>
                            <a:rPr lang="he-IL" sz="3200" b="0" i="1" smtClean="0">
                              <a:latin typeface="Cambria Math" panose="02040503050406030204" pitchFamily="18" charset="0"/>
                            </a:rPr>
                            <m:t>ℙ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𝑛𝑜𝑡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𝑏𝑜𝑡ℎ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𝑑𝑖𝑣𝑖𝑠𝑖𝑏𝑙𝑒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𝑏𝑦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supHide m:val="on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/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(1−</m:t>
                          </m:r>
                          <m:f>
                            <m:f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p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L" sz="32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E09535D-FC9D-4060-CE94-F0A1E924E9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84480" y="2799518"/>
                <a:ext cx="12760960" cy="174156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226922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C5A2C-3B69-4FD9-0C91-8F1441BB3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14299"/>
            <a:ext cx="9905998" cy="1905000"/>
          </a:xfrm>
        </p:spPr>
        <p:txBody>
          <a:bodyPr/>
          <a:lstStyle/>
          <a:p>
            <a:pPr algn="r" rtl="1"/>
            <a:r>
              <a:rPr lang="he-IL" sz="4000" dirty="0"/>
              <a:t>אוילר ואוקלידס </a:t>
            </a:r>
            <a:r>
              <a:rPr lang="en-US" sz="4000" dirty="0"/>
              <a:t>team up?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55F1F47-C188-740B-7EAE-D058421A63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60400" y="1889760"/>
                <a:ext cx="10952480" cy="3901441"/>
              </a:xfrm>
            </p:spPr>
            <p:txBody>
              <a:bodyPr>
                <a:normAutofit/>
              </a:bodyPr>
              <a:lstStyle/>
              <a:p>
                <a:pPr algn="r" rtl="1"/>
                <a:r>
                  <a:rPr lang="he-IL" sz="2800" dirty="0"/>
                  <a:t>סדרה הנדסית:</a:t>
                </a:r>
              </a:p>
              <a:p>
                <a:pPr marL="0" indent="0" algn="r" rtl="1"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=1+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+…</m:t>
                      </m:r>
                    </m:oMath>
                  </m:oMathPara>
                </a14:m>
                <a:endParaRPr lang="en-US" sz="2800" dirty="0"/>
              </a:p>
              <a:p>
                <a:pPr marL="0" indent="0" algn="r" rtl="1">
                  <a:buNone/>
                </a:pPr>
                <a:r>
                  <a:rPr lang="he-IL" sz="2800" dirty="0"/>
                  <a:t>נקבל שאחד חלקי הסיכוי שמעניין אותנו זה</a:t>
                </a:r>
              </a:p>
              <a:p>
                <a:pPr marL="0" indent="0" algn="r" rtl="1"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ℙ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supHide m:val="on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m:rPr>
                                          <m:lit/>
                                        </m:r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/</m:t>
                                      </m:r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nary>
                      <m:nary>
                        <m:naryPr>
                          <m:chr m:val="∏"/>
                          <m:supHide m:val="on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/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(1+</m:t>
                          </m:r>
                          <m:f>
                            <m:f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p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p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</m:den>
                          </m:f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+…)</m:t>
                          </m:r>
                        </m:e>
                      </m:nary>
                    </m:oMath>
                  </m:oMathPara>
                </a14:m>
                <a:endParaRPr lang="en-US" sz="2800" dirty="0"/>
              </a:p>
              <a:p>
                <a:pPr marL="0" indent="0" algn="r" rtl="1">
                  <a:buNone/>
                </a:pPr>
                <a:r>
                  <a:rPr lang="he-IL" sz="2800" dirty="0"/>
                  <a:t>נפתח סוגריים ונקבל שמופיע לנו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he-IL" sz="2800" dirty="0"/>
                  <a:t> פעם אחת בדיוק לכל </a:t>
                </a:r>
                <a:r>
                  <a:rPr lang="he-IL" dirty="0"/>
                  <a:t>שלם חיובי</a:t>
                </a:r>
                <a:r>
                  <a:rPr lang="he-IL" sz="2800" dirty="0"/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he-IL" sz="28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55F1F47-C188-740B-7EAE-D058421A63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60400" y="1889760"/>
                <a:ext cx="10952480" cy="3901441"/>
              </a:xfrm>
              <a:blipFill>
                <a:blip r:embed="rId2"/>
                <a:stretch>
                  <a:fillRect t="-2656" r="-1169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 descr="תוצאת תמונה עבור אוקלידס">
            <a:extLst>
              <a:ext uri="{FF2B5EF4-FFF2-40B4-BE49-F238E27FC236}">
                <a16:creationId xmlns:a16="http://schemas.microsoft.com/office/drawing/2014/main" id="{69E64F68-FCBC-5F3B-FA8E-4189129B56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272" y="675463"/>
            <a:ext cx="1587128" cy="2288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3070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C5A2C-3B69-4FD9-0C91-8F1441BB3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14299"/>
            <a:ext cx="9905998" cy="1905000"/>
          </a:xfrm>
        </p:spPr>
        <p:txBody>
          <a:bodyPr/>
          <a:lstStyle/>
          <a:p>
            <a:pPr algn="r" rtl="1"/>
            <a:r>
              <a:rPr lang="he-IL" sz="4000" dirty="0"/>
              <a:t>אוילר – בעיית באזל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55F1F47-C188-740B-7EAE-D058421A63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60400" y="1889760"/>
                <a:ext cx="10387011" cy="3901441"/>
              </a:xfrm>
            </p:spPr>
            <p:txBody>
              <a:bodyPr>
                <a:normAutofit/>
              </a:bodyPr>
              <a:lstStyle/>
              <a:p>
                <a:pPr algn="r" rtl="1"/>
                <a:r>
                  <a:rPr lang="he-IL" dirty="0"/>
                  <a:t>כלומר קיבלנו את הנוסחה</a:t>
                </a:r>
              </a:p>
              <a:p>
                <a:pPr algn="r" rtl="1"/>
                <a:endParaRPr lang="he-IL" dirty="0"/>
              </a:p>
              <a:p>
                <a:pPr algn="r" rtl="1"/>
                <a:endParaRPr lang="he-IL" dirty="0"/>
              </a:p>
              <a:p>
                <a:pPr algn="r" rtl="1"/>
                <a:endParaRPr lang="he-IL" dirty="0"/>
              </a:p>
              <a:p>
                <a:pPr algn="r" rtl="1"/>
                <a:endParaRPr lang="he-IL" dirty="0"/>
              </a:p>
              <a:p>
                <a:pPr algn="r" rtl="1"/>
                <a:endParaRPr lang="he-IL" dirty="0"/>
              </a:p>
              <a:p>
                <a:pPr algn="r" rtl="1"/>
                <a:r>
                  <a:rPr lang="he-IL" dirty="0"/>
                  <a:t>נשאר להוכיח שהסכום שקיבלנו זה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lang="he-IL" dirty="0"/>
                  <a:t> . זה נקרא בעיית באזל.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55F1F47-C188-740B-7EAE-D058421A63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60400" y="1889760"/>
                <a:ext cx="10387011" cy="3901441"/>
              </a:xfrm>
              <a:blipFill>
                <a:blip r:embed="rId2"/>
                <a:stretch>
                  <a:fillRect t="-2656" r="-1115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27DEC37-07A7-D1E2-25BA-CFF1AFDEDC89}"/>
                  </a:ext>
                </a:extLst>
              </p:cNvPr>
              <p:cNvSpPr txBox="1"/>
              <p:nvPr/>
            </p:nvSpPr>
            <p:spPr>
              <a:xfrm>
                <a:off x="4086065" y="2422025"/>
                <a:ext cx="3535680" cy="20139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sz="4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ℙ</m:t>
                          </m:r>
                        </m:den>
                      </m:f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4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US" sz="4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4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sz="4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48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US" sz="4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en-IL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27DEC37-07A7-D1E2-25BA-CFF1AFDEDC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6065" y="2422025"/>
                <a:ext cx="3535680" cy="201394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20020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C5A2C-3B69-4FD9-0C91-8F1441BB3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14299"/>
            <a:ext cx="9905998" cy="1905000"/>
          </a:xfrm>
        </p:spPr>
        <p:txBody>
          <a:bodyPr/>
          <a:lstStyle/>
          <a:p>
            <a:pPr algn="r" rtl="1"/>
            <a:r>
              <a:rPr lang="he-IL" dirty="0"/>
              <a:t>בעיית באזל – קצת היסטוריה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5F1F47-C188-740B-7EAE-D058421A63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400" y="1900645"/>
            <a:ext cx="10387011" cy="3901441"/>
          </a:xfrm>
        </p:spPr>
        <p:txBody>
          <a:bodyPr>
            <a:normAutofit/>
          </a:bodyPr>
          <a:lstStyle/>
          <a:p>
            <a:pPr algn="r" rtl="1"/>
            <a:r>
              <a:rPr lang="he-IL" dirty="0"/>
              <a:t>הוצג לראשונה בשנת 1644 ע"י פייטרו מנגולי.</a:t>
            </a:r>
          </a:p>
          <a:p>
            <a:pPr algn="r" rtl="1"/>
            <a:r>
              <a:rPr lang="he-IL" dirty="0"/>
              <a:t>נפתר על ידי לאונרד אוילר ב1735.</a:t>
            </a:r>
          </a:p>
          <a:p>
            <a:pPr algn="r" rtl="1"/>
            <a:r>
              <a:rPr lang="he-IL" dirty="0"/>
              <a:t>נקרא על שם באזל, עירו של אוילר.</a:t>
            </a:r>
          </a:p>
          <a:p>
            <a:pPr algn="r" rtl="1"/>
            <a:r>
              <a:rPr lang="he-IL" dirty="0"/>
              <a:t>יש הרבה הוכחות היום (... פוריה, מרוכבות ... ). </a:t>
            </a:r>
          </a:p>
          <a:p>
            <a:pPr algn="r" rtl="1"/>
            <a:endParaRPr lang="he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2C062C9-F953-3362-9EB7-3ED8AF0D3054}"/>
                  </a:ext>
                </a:extLst>
              </p:cNvPr>
              <p:cNvSpPr txBox="1"/>
              <p:nvPr/>
            </p:nvSpPr>
            <p:spPr>
              <a:xfrm>
                <a:off x="1615581" y="3840480"/>
                <a:ext cx="3535680" cy="20139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he-IL" sz="4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he-IL" sz="4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he-IL" sz="48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en-US" sz="4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he-IL" sz="48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4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US" sz="4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4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sz="4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48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US" sz="4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en-IL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2C062C9-F953-3362-9EB7-3ED8AF0D30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5581" y="3840480"/>
                <a:ext cx="3535680" cy="201394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0A0816B4-85AA-C786-865D-1F1179215989}"/>
              </a:ext>
            </a:extLst>
          </p:cNvPr>
          <p:cNvSpPr txBox="1"/>
          <p:nvPr/>
        </p:nvSpPr>
        <p:spPr>
          <a:xfrm>
            <a:off x="6617253" y="5854429"/>
            <a:ext cx="5508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"בבאזל חישבתי את סכום ההופכיים של הריבועים"   – אוילר </a:t>
            </a:r>
            <a:endParaRPr lang="en-IL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6DC0674-AE3A-37A8-0E26-E2F593DADB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896" y="114300"/>
            <a:ext cx="2330491" cy="2916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14658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C5A2C-3B69-4FD9-0C91-8F1441BB3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14299"/>
            <a:ext cx="9905998" cy="1905000"/>
          </a:xfrm>
        </p:spPr>
        <p:txBody>
          <a:bodyPr/>
          <a:lstStyle/>
          <a:p>
            <a:pPr algn="r" rtl="1"/>
            <a:r>
              <a:rPr lang="he-IL" dirty="0"/>
              <a:t>דבר ראשון, למה זה לא אינסוף?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55F1F47-C188-740B-7EAE-D058421A63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60400" y="1889760"/>
                <a:ext cx="10387011" cy="3901441"/>
              </a:xfrm>
            </p:spPr>
            <p:txBody>
              <a:bodyPr>
                <a:normAutofit fontScale="85000" lnSpcReduction="20000"/>
              </a:bodyPr>
              <a:lstStyle/>
              <a:p>
                <a:pPr algn="r" rtl="1"/>
                <a:r>
                  <a:rPr lang="he-IL" dirty="0"/>
                  <a:t>בואו נדבר על זה!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  <m:r>
                        <a:rPr lang="en-US" i="1">
                          <a:latin typeface="Cambria Math" panose="02040503050406030204" pitchFamily="18" charset="0"/>
                        </a:rPr>
                        <m:t>=1+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+…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he-IL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&lt;1+</m:t>
                      </m:r>
                      <m:f>
                        <m:f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1⋅2</m:t>
                          </m:r>
                        </m:den>
                      </m:f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2⋅3</m:t>
                          </m:r>
                        </m:den>
                      </m:f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3⋅4</m:t>
                          </m:r>
                        </m:den>
                      </m:f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+…=1+</m:t>
                      </m:r>
                      <m:d>
                        <m:d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+…=</m:t>
                      </m:r>
                      <m:r>
                        <a:rPr lang="he-IL" sz="2600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2600" dirty="0"/>
              </a:p>
              <a:p>
                <a:pPr marL="0" indent="0">
                  <a:buNone/>
                </a:pPr>
                <a:endParaRPr lang="en-US" sz="2600" dirty="0"/>
              </a:p>
              <a:p>
                <a:pPr marL="0" indent="0">
                  <a:buNone/>
                </a:pPr>
                <a:endParaRPr lang="en-US" dirty="0"/>
              </a:p>
              <a:p>
                <a:pPr algn="r" rtl="1"/>
                <a:endParaRPr lang="he-IL" dirty="0"/>
              </a:p>
              <a:p>
                <a:pPr algn="r" rtl="1"/>
                <a:r>
                  <a:rPr lang="he-IL" dirty="0"/>
                  <a:t>נראה שזה די סופי </a:t>
                </a:r>
                <a:r>
                  <a:rPr lang="he-IL" dirty="0">
                    <a:sym typeface="Wingdings" panose="05000000000000000000" pitchFamily="2" charset="2"/>
                  </a:rPr>
                  <a:t></a:t>
                </a:r>
                <a:endParaRPr lang="en-IL" dirty="0"/>
              </a:p>
              <a:p>
                <a:pPr marL="0" indent="0" algn="r" rtl="1">
                  <a:buNone/>
                </a:pPr>
                <a:endParaRPr lang="he-I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55F1F47-C188-740B-7EAE-D058421A63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60400" y="1889760"/>
                <a:ext cx="10387011" cy="3901441"/>
              </a:xfrm>
              <a:blipFill>
                <a:blip r:embed="rId2"/>
                <a:stretch>
                  <a:fillRect t="-3750" r="-880" b="-1719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828163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C5A2C-3B69-4FD9-0C91-8F1441BB3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14299"/>
            <a:ext cx="9905998" cy="1905000"/>
          </a:xfrm>
        </p:spPr>
        <p:txBody>
          <a:bodyPr/>
          <a:lstStyle/>
          <a:p>
            <a:pPr algn="r" rtl="1"/>
            <a:r>
              <a:rPr lang="he-IL" dirty="0"/>
              <a:t>משפט פיתגורס (באינברסיה)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55F1F47-C188-740B-7EAE-D058421A63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60400" y="1554480"/>
                <a:ext cx="10387011" cy="4236721"/>
              </a:xfrm>
            </p:spPr>
            <p:txBody>
              <a:bodyPr>
                <a:normAutofit/>
              </a:bodyPr>
              <a:lstStyle/>
              <a:p>
                <a:pPr algn="r" rtl="1"/>
                <a:r>
                  <a:rPr lang="he-IL" dirty="0"/>
                  <a:t>הוכחה:</a:t>
                </a:r>
              </a:p>
              <a:p>
                <a:pPr marL="0" indent="0" algn="r" rtl="1">
                  <a:buNone/>
                </a:pPr>
                <a:r>
                  <a:rPr lang="he-IL" b="0" dirty="0"/>
                  <a:t>נשים לב ש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he-IL" b="0" i="0" smtClean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𝐴𝐵𝐶</m:t>
                        </m:r>
                      </m:sub>
                    </m:sSub>
                    <m:r>
                      <a:rPr lang="he-IL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𝑎𝑏</m:t>
                    </m:r>
                  </m:oMath>
                </a14:m>
                <a:r>
                  <a:rPr lang="he-IL" dirty="0"/>
                  <a:t> .</a:t>
                </a:r>
              </a:p>
              <a:p>
                <a:pPr marL="0" indent="0" algn="r" rtl="1">
                  <a:buNone/>
                </a:pPr>
                <a:r>
                  <a:rPr lang="he-IL" dirty="0"/>
                  <a:t>בעזרת משפט פיתגורס הרגיל: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55F1F47-C188-740B-7EAE-D058421A63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60400" y="1554480"/>
                <a:ext cx="10387011" cy="4236721"/>
              </a:xfrm>
              <a:blipFill>
                <a:blip r:embed="rId2"/>
                <a:stretch>
                  <a:fillRect t="-2446" r="-1232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41DDEFB-20F5-543C-50BD-D0E49FCD0408}"/>
                  </a:ext>
                </a:extLst>
              </p:cNvPr>
              <p:cNvSpPr txBox="1"/>
              <p:nvPr/>
            </p:nvSpPr>
            <p:spPr>
              <a:xfrm>
                <a:off x="4219892" y="3429000"/>
                <a:ext cx="8449627" cy="9255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he-IL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𝑎𝑏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IL" sz="28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41DDEFB-20F5-543C-50BD-D0E49FCD04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9892" y="3429000"/>
                <a:ext cx="8449627" cy="9255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Picture 17">
            <a:extLst>
              <a:ext uri="{FF2B5EF4-FFF2-40B4-BE49-F238E27FC236}">
                <a16:creationId xmlns:a16="http://schemas.microsoft.com/office/drawing/2014/main" id="{6666E39C-2302-9291-60F6-2CABF5C38D2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1303" t="12741" r="37104" b="33630"/>
          <a:stretch/>
        </p:blipFill>
        <p:spPr>
          <a:xfrm>
            <a:off x="345440" y="806450"/>
            <a:ext cx="4947920" cy="3677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621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C5A2C-3B69-4FD9-0C91-8F1441BB3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14299"/>
            <a:ext cx="9905998" cy="1905000"/>
          </a:xfrm>
        </p:spPr>
        <p:txBody>
          <a:bodyPr/>
          <a:lstStyle/>
          <a:p>
            <a:pPr algn="r" rtl="1"/>
            <a:r>
              <a:rPr lang="he-IL" dirty="0"/>
              <a:t>בנייה גיאומטרית</a:t>
            </a:r>
            <a:endParaRPr lang="en-I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99EDF41-86C9-4B2A-4934-D51FBAD8A2A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1583" t="44545" r="44500" b="7422"/>
          <a:stretch/>
        </p:blipFill>
        <p:spPr>
          <a:xfrm>
            <a:off x="3794760" y="2259330"/>
            <a:ext cx="2915920" cy="2997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75AF3A6-CD21-7679-F464-35ACE15D1F9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0083" t="44546" r="41250" b="12144"/>
          <a:stretch/>
        </p:blipFill>
        <p:spPr>
          <a:xfrm>
            <a:off x="25284" y="2553969"/>
            <a:ext cx="3495040" cy="270256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4456663-F475-7AE4-0194-1481B0B3257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3167" t="33962" r="45833" b="10516"/>
          <a:stretch/>
        </p:blipFill>
        <p:spPr>
          <a:xfrm>
            <a:off x="7368409" y="1791970"/>
            <a:ext cx="3779520" cy="3464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297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FB4069F-84AB-0FCE-B115-4119A245300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1584" t="10842" r="39415" b="15400"/>
          <a:stretch/>
        </p:blipFill>
        <p:spPr>
          <a:xfrm>
            <a:off x="508000" y="1412240"/>
            <a:ext cx="4754880" cy="460248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FBCB6CA-EF61-FF7C-9655-646BAEF1CB8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0334" t="5550" r="40666" b="18739"/>
          <a:stretch/>
        </p:blipFill>
        <p:spPr>
          <a:xfrm>
            <a:off x="5538968" y="1026158"/>
            <a:ext cx="5211900" cy="5178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562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E143BE5-302C-1375-29C6-ED787A9B67F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625" t="4140" r="36979" b="3256"/>
          <a:stretch/>
        </p:blipFill>
        <p:spPr>
          <a:xfrm>
            <a:off x="0" y="876299"/>
            <a:ext cx="5778500" cy="57785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88D7379-AC9B-8966-DBBE-9D3546B75EA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9069" t="-1966" r="34681" b="7735"/>
          <a:stretch/>
        </p:blipFill>
        <p:spPr>
          <a:xfrm>
            <a:off x="6096000" y="774700"/>
            <a:ext cx="5638800" cy="588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207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21E82DC-7482-54D7-D4C3-A5CBBCBB21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9000"/>
            <a:ext cx="12192000" cy="62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3542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56C6C10-79FF-67FC-BE48-720B7BEE41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9000"/>
            <a:ext cx="12192000" cy="62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4141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C5A2C-3B69-4FD9-0C91-8F1441BB3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14299"/>
            <a:ext cx="9905998" cy="1905000"/>
          </a:xfrm>
        </p:spPr>
        <p:txBody>
          <a:bodyPr/>
          <a:lstStyle/>
          <a:p>
            <a:pPr algn="r" rtl="1"/>
            <a:r>
              <a:rPr lang="he-IL" dirty="0"/>
              <a:t>קצת מספרים</a:t>
            </a:r>
            <a:endParaRPr lang="en-IL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6FC83A8-8127-436C-3BB4-3EB729C305F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2334" t="52361" r="48500" b="12144"/>
          <a:stretch/>
        </p:blipFill>
        <p:spPr>
          <a:xfrm>
            <a:off x="426720" y="3976370"/>
            <a:ext cx="2336800" cy="221488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DAE47B5-C9B6-E6DE-7CAB-00880DCA4C3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8500" t="41452" r="45667" b="12144"/>
          <a:stretch/>
        </p:blipFill>
        <p:spPr>
          <a:xfrm>
            <a:off x="3154680" y="3314700"/>
            <a:ext cx="3149600" cy="289560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8A1B4F3-7278-AA2D-C482-8B4140223EB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3750" t="16418" r="37291" b="14587"/>
          <a:stretch/>
        </p:blipFill>
        <p:spPr>
          <a:xfrm>
            <a:off x="6688771" y="1772920"/>
            <a:ext cx="4749800" cy="430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982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F0439EEB-0B84-ED2B-C738-BDA05ACAE18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247" t="2269" r="33664" b="4114"/>
          <a:stretch/>
        </p:blipFill>
        <p:spPr>
          <a:xfrm>
            <a:off x="2885872" y="218872"/>
            <a:ext cx="6420255" cy="6420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4232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169181-F905-7D68-8EEC-2F052F5B0A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92" y="0"/>
            <a:ext cx="118696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33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C5A2C-3B69-4FD9-0C91-8F1441BB3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14299"/>
            <a:ext cx="9905998" cy="1905000"/>
          </a:xfrm>
        </p:spPr>
        <p:txBody>
          <a:bodyPr/>
          <a:lstStyle/>
          <a:p>
            <a:pPr algn="r" rtl="1"/>
            <a:r>
              <a:rPr lang="he-IL" dirty="0"/>
              <a:t>ניקח גבול!</a:t>
            </a:r>
            <a:endParaRPr lang="en-IL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E1071D6-B8CB-8A59-A8E0-A7C5674100C3}"/>
              </a:ext>
            </a:extLst>
          </p:cNvPr>
          <p:cNvSpPr/>
          <p:nvPr/>
        </p:nvSpPr>
        <p:spPr>
          <a:xfrm>
            <a:off x="715281" y="1830061"/>
            <a:ext cx="10780033" cy="29990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 dirty="0"/>
          </a:p>
        </p:txBody>
      </p:sp>
      <p:pic>
        <p:nvPicPr>
          <p:cNvPr id="46" name="Picture 3">
            <a:extLst>
              <a:ext uri="{FF2B5EF4-FFF2-40B4-BE49-F238E27FC236}">
                <a16:creationId xmlns:a16="http://schemas.microsoft.com/office/drawing/2014/main" id="{92AE448A-190D-C8A5-EAA2-5952594B03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6252" y="3123156"/>
            <a:ext cx="11705748" cy="8926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01051E1C-60DD-1FD2-0F58-47672979C870}"/>
                  </a:ext>
                </a:extLst>
              </p:cNvPr>
              <p:cNvSpPr txBox="1"/>
              <p:nvPr/>
            </p:nvSpPr>
            <p:spPr>
              <a:xfrm>
                <a:off x="-125843" y="5025090"/>
                <a:ext cx="12929937" cy="11988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=2⋅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  <m:sup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  <m:sup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e>
                                <m:sup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9</m:t>
                                  </m:r>
                                </m:e>
                                <m:sup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+…</m:t>
                          </m:r>
                        </m:e>
                      </m:d>
                    </m:oMath>
                  </m:oMathPara>
                </a14:m>
                <a:endParaRPr lang="en-IL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01051E1C-60DD-1FD2-0F58-47672979C8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25843" y="5025090"/>
                <a:ext cx="12929937" cy="11988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7" name="מחבר ישר 17">
            <a:extLst>
              <a:ext uri="{FF2B5EF4-FFF2-40B4-BE49-F238E27FC236}">
                <a16:creationId xmlns:a16="http://schemas.microsoft.com/office/drawing/2014/main" id="{A8EFDE15-D4B8-5B40-3704-C36309509E2C}"/>
              </a:ext>
            </a:extLst>
          </p:cNvPr>
          <p:cNvCxnSpPr>
            <a:cxnSpLocks/>
          </p:cNvCxnSpPr>
          <p:nvPr/>
        </p:nvCxnSpPr>
        <p:spPr>
          <a:xfrm>
            <a:off x="6329501" y="3142406"/>
            <a:ext cx="9625" cy="854127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aphicFrame>
        <p:nvGraphicFramePr>
          <p:cNvPr id="68" name="Object 15">
            <a:extLst>
              <a:ext uri="{FF2B5EF4-FFF2-40B4-BE49-F238E27FC236}">
                <a16:creationId xmlns:a16="http://schemas.microsoft.com/office/drawing/2014/main" id="{5559DD2F-3845-C99B-B434-B6A7A24AE92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3598671"/>
              </p:ext>
            </p:extLst>
          </p:nvPr>
        </p:nvGraphicFramePr>
        <p:xfrm>
          <a:off x="6329501" y="3231834"/>
          <a:ext cx="232923" cy="5719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4880" imgH="393480" progId="Equation.DSMT4">
                  <p:embed/>
                </p:oleObj>
              </mc:Choice>
              <mc:Fallback>
                <p:oleObj name="Equation" r:id="rId4" imgW="164880" imgH="393480" progId="Equation.DSMT4">
                  <p:embed/>
                  <p:pic>
                    <p:nvPicPr>
                      <p:cNvPr id="35855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9501" y="3231834"/>
                        <a:ext cx="232923" cy="57192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55CA08E9-465B-122F-E3EA-9C4F8371EB2D}"/>
                  </a:ext>
                </a:extLst>
              </p:cNvPr>
              <p:cNvSpPr txBox="1"/>
              <p:nvPr/>
            </p:nvSpPr>
            <p:spPr>
              <a:xfrm>
                <a:off x="5703683" y="3314888"/>
                <a:ext cx="317634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IL" sz="2400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55CA08E9-465B-122F-E3EA-9C4F8371EB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3683" y="3314888"/>
                <a:ext cx="317634" cy="369332"/>
              </a:xfrm>
              <a:prstGeom prst="rect">
                <a:avLst/>
              </a:prstGeom>
              <a:blipFill>
                <a:blip r:embed="rId6"/>
                <a:stretch>
                  <a:fillRect l="-11538" r="-9615" b="-6667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86734C3A-4AD9-4152-3C22-0FE503A598E2}"/>
                  </a:ext>
                </a:extLst>
              </p:cNvPr>
              <p:cNvSpPr txBox="1"/>
              <p:nvPr/>
            </p:nvSpPr>
            <p:spPr>
              <a:xfrm>
                <a:off x="6711791" y="3302769"/>
                <a:ext cx="317634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IL" sz="2400" dirty="0"/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86734C3A-4AD9-4152-3C22-0FE503A598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1791" y="3302769"/>
                <a:ext cx="317634" cy="369332"/>
              </a:xfrm>
              <a:prstGeom prst="rect">
                <a:avLst/>
              </a:prstGeom>
              <a:blipFill>
                <a:blip r:embed="rId7"/>
                <a:stretch>
                  <a:fillRect l="-9615" r="-11538" b="-6667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847391E4-4E29-4DFA-9E08-61B7519D2338}"/>
                  </a:ext>
                </a:extLst>
              </p:cNvPr>
              <p:cNvSpPr txBox="1"/>
              <p:nvPr/>
            </p:nvSpPr>
            <p:spPr>
              <a:xfrm>
                <a:off x="5661199" y="3898932"/>
                <a:ext cx="317634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IL" sz="2400" dirty="0"/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847391E4-4E29-4DFA-9E08-61B7519D23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1199" y="3898932"/>
                <a:ext cx="317634" cy="369332"/>
              </a:xfrm>
              <a:prstGeom prst="rect">
                <a:avLst/>
              </a:prstGeom>
              <a:blipFill>
                <a:blip r:embed="rId8"/>
                <a:stretch>
                  <a:fillRect l="-11538" r="-9615" b="-6667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FD2A4700-F4C0-1872-88E1-98CD12962850}"/>
                  </a:ext>
                </a:extLst>
              </p:cNvPr>
              <p:cNvSpPr txBox="1"/>
              <p:nvPr/>
            </p:nvSpPr>
            <p:spPr>
              <a:xfrm>
                <a:off x="6711791" y="3900351"/>
                <a:ext cx="317634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IL" sz="2400" dirty="0"/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FD2A4700-F4C0-1872-88E1-98CD129628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1791" y="3900351"/>
                <a:ext cx="317634" cy="369332"/>
              </a:xfrm>
              <a:prstGeom prst="rect">
                <a:avLst/>
              </a:prstGeom>
              <a:blipFill>
                <a:blip r:embed="rId9"/>
                <a:stretch>
                  <a:fillRect l="-9615" r="-11538" b="-6667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C851A559-9A59-AB0F-7DAB-1F830C8E175D}"/>
                  </a:ext>
                </a:extLst>
              </p:cNvPr>
              <p:cNvSpPr txBox="1"/>
              <p:nvPr/>
            </p:nvSpPr>
            <p:spPr>
              <a:xfrm>
                <a:off x="8254436" y="3878935"/>
                <a:ext cx="317634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IL" sz="2400" dirty="0"/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C851A559-9A59-AB0F-7DAB-1F830C8E17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4436" y="3878935"/>
                <a:ext cx="317634" cy="369332"/>
              </a:xfrm>
              <a:prstGeom prst="rect">
                <a:avLst/>
              </a:prstGeom>
              <a:blipFill>
                <a:blip r:embed="rId10"/>
                <a:stretch>
                  <a:fillRect l="-9615" r="-11538" b="-6557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DA98630B-6B51-24D0-4FCE-D9403286E263}"/>
                  </a:ext>
                </a:extLst>
              </p:cNvPr>
              <p:cNvSpPr txBox="1"/>
              <p:nvPr/>
            </p:nvSpPr>
            <p:spPr>
              <a:xfrm>
                <a:off x="10408891" y="3933295"/>
                <a:ext cx="317634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IL" sz="2400" dirty="0"/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DA98630B-6B51-24D0-4FCE-D9403286E2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08891" y="3933295"/>
                <a:ext cx="317634" cy="369332"/>
              </a:xfrm>
              <a:prstGeom prst="rect">
                <a:avLst/>
              </a:prstGeom>
              <a:blipFill>
                <a:blip r:embed="rId11"/>
                <a:stretch>
                  <a:fillRect l="-9434" r="-9434" b="-6557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975954F2-6D1C-BFBE-A7CC-CCF838612606}"/>
                  </a:ext>
                </a:extLst>
              </p:cNvPr>
              <p:cNvSpPr txBox="1"/>
              <p:nvPr/>
            </p:nvSpPr>
            <p:spPr>
              <a:xfrm>
                <a:off x="3911838" y="3908550"/>
                <a:ext cx="317634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IL" sz="2400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975954F2-6D1C-BFBE-A7CC-CCF8386126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1838" y="3908550"/>
                <a:ext cx="317634" cy="369332"/>
              </a:xfrm>
              <a:prstGeom prst="rect">
                <a:avLst/>
              </a:prstGeom>
              <a:blipFill>
                <a:blip r:embed="rId12"/>
                <a:stretch>
                  <a:fillRect l="-11538" r="-9615" b="-6557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F04CDC81-98E5-807A-FAC7-D42AC1B7FDAC}"/>
                  </a:ext>
                </a:extLst>
              </p:cNvPr>
              <p:cNvSpPr txBox="1"/>
              <p:nvPr/>
            </p:nvSpPr>
            <p:spPr>
              <a:xfrm>
                <a:off x="1547352" y="3914845"/>
                <a:ext cx="317634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IL" sz="2400" dirty="0"/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F04CDC81-98E5-807A-FAC7-D42AC1B7FD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7352" y="3914845"/>
                <a:ext cx="317634" cy="369332"/>
              </a:xfrm>
              <a:prstGeom prst="rect">
                <a:avLst/>
              </a:prstGeom>
              <a:blipFill>
                <a:blip r:embed="rId13"/>
                <a:stretch>
                  <a:fillRect l="-11538" r="-9615" b="-6557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3776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  <p:bldP spid="78" grpId="0"/>
      <p:bldP spid="79" grpId="0"/>
      <p:bldP spid="80" grpId="0"/>
      <p:bldP spid="81" grpId="0"/>
      <p:bldP spid="82" grpId="0"/>
      <p:bldP spid="83" grpId="0"/>
      <p:bldP spid="84" grpId="0"/>
      <p:bldP spid="8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C5A2C-3B69-4FD9-0C91-8F1441BB3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14299"/>
            <a:ext cx="9905998" cy="1905000"/>
          </a:xfrm>
        </p:spPr>
        <p:txBody>
          <a:bodyPr/>
          <a:lstStyle/>
          <a:p>
            <a:pPr algn="r" rtl="1"/>
            <a:r>
              <a:rPr lang="he-IL" dirty="0"/>
              <a:t>סיום ההוכחה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5F1F47-C188-740B-7EAE-D058421A63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400" y="1889760"/>
            <a:ext cx="10387011" cy="3901441"/>
          </a:xfrm>
        </p:spPr>
        <p:txBody>
          <a:bodyPr>
            <a:normAutofit/>
          </a:bodyPr>
          <a:lstStyle/>
          <a:p>
            <a:pPr algn="r" rtl="1"/>
            <a:r>
              <a:rPr lang="he-IL" dirty="0"/>
              <a:t>קיבלנו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756B366-41A8-ACBE-5168-B1F8C8EF751F}"/>
                  </a:ext>
                </a:extLst>
              </p:cNvPr>
              <p:cNvSpPr txBox="1"/>
              <p:nvPr/>
            </p:nvSpPr>
            <p:spPr>
              <a:xfrm>
                <a:off x="0" y="2512896"/>
                <a:ext cx="12929937" cy="10804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=1+</m:t>
                      </m:r>
                      <m:f>
                        <m:f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sup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sup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  <m:sup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  <m:sup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+…</m:t>
                      </m:r>
                    </m:oMath>
                  </m:oMathPara>
                </a14:m>
                <a:endParaRPr lang="en-IL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756B366-41A8-ACBE-5168-B1F8C8EF75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512896"/>
                <a:ext cx="12929937" cy="108048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B62B95F-EE3C-8EA1-02D5-27C37DDD4C35}"/>
                  </a:ext>
                </a:extLst>
              </p:cNvPr>
              <p:cNvSpPr txBox="1"/>
              <p:nvPr/>
            </p:nvSpPr>
            <p:spPr>
              <a:xfrm>
                <a:off x="-611064" y="5125909"/>
                <a:ext cx="12929937" cy="10175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=1+</m:t>
                      </m:r>
                      <m:f>
                        <m:f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sup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+…</m:t>
                      </m:r>
                    </m:oMath>
                  </m:oMathPara>
                </a14:m>
                <a:endParaRPr lang="en-IL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B62B95F-EE3C-8EA1-02D5-27C37DDD4C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11064" y="5125909"/>
                <a:ext cx="12929937" cy="101752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854DE63-001B-ED4F-D253-15A8926A5CD6}"/>
                  </a:ext>
                </a:extLst>
              </p:cNvPr>
              <p:cNvSpPr txBox="1"/>
              <p:nvPr/>
            </p:nvSpPr>
            <p:spPr>
              <a:xfrm>
                <a:off x="-583027" y="3974162"/>
                <a:ext cx="12929937" cy="10175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sup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  <m:sup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+…</m:t>
                      </m:r>
                    </m:oMath>
                  </m:oMathPara>
                </a14:m>
                <a:endParaRPr lang="en-IL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854DE63-001B-ED4F-D253-15A8926A5C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83027" y="3974162"/>
                <a:ext cx="12929937" cy="101752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85437C7-686B-789C-F4A4-0DF20AFB16C5}"/>
                  </a:ext>
                </a:extLst>
              </p:cNvPr>
              <p:cNvSpPr txBox="1"/>
              <p:nvPr/>
            </p:nvSpPr>
            <p:spPr>
              <a:xfrm>
                <a:off x="7917073" y="2512896"/>
                <a:ext cx="4401799" cy="10143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IL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85437C7-686B-789C-F4A4-0DF20AFB16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7073" y="2512896"/>
                <a:ext cx="4401799" cy="101431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98AB1A3-3012-42C6-3A39-CD032F422C78}"/>
                  </a:ext>
                </a:extLst>
              </p:cNvPr>
              <p:cNvSpPr txBox="1"/>
              <p:nvPr/>
            </p:nvSpPr>
            <p:spPr>
              <a:xfrm>
                <a:off x="6657437" y="5057857"/>
                <a:ext cx="4401799" cy="10804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IL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98AB1A3-3012-42C6-3A39-CD032F422C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7437" y="5057857"/>
                <a:ext cx="4401799" cy="108048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6999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C5A2C-3B69-4FD9-0C91-8F1441BB3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14299"/>
            <a:ext cx="9905998" cy="1905000"/>
          </a:xfrm>
        </p:spPr>
        <p:txBody>
          <a:bodyPr/>
          <a:lstStyle/>
          <a:p>
            <a:pPr algn="r" rtl="1"/>
            <a:r>
              <a:rPr lang="he-IL" dirty="0"/>
              <a:t>סיכום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55F1F47-C188-740B-7EAE-D058421A63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60400" y="1889760"/>
                <a:ext cx="10387011" cy="3901441"/>
              </a:xfrm>
            </p:spPr>
            <p:txBody>
              <a:bodyPr>
                <a:normAutofit/>
              </a:bodyPr>
              <a:lstStyle/>
              <a:p>
                <a:pPr algn="r" rtl="1"/>
                <a:r>
                  <a:rPr lang="he-IL" dirty="0"/>
                  <a:t>דיברנו על מה הסיכוי ששני מספרים שלמים רנדומיים הם זרים.</a:t>
                </a:r>
              </a:p>
              <a:p>
                <a:pPr marL="0" indent="0" algn="r" rtl="1">
                  <a:buNone/>
                </a:pPr>
                <a:endParaRPr lang="he-IL" dirty="0"/>
              </a:p>
              <a:p>
                <a:pPr algn="r" rtl="1"/>
                <a:r>
                  <a:rPr lang="he-IL" dirty="0"/>
                  <a:t>המרנו את זה לבעיית באזל: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1+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+…=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lang="he-IL" dirty="0"/>
              </a:p>
              <a:p>
                <a:pPr marL="0" indent="0" algn="r" rtl="1">
                  <a:buNone/>
                </a:pPr>
                <a:endParaRPr lang="he-IL" dirty="0"/>
              </a:p>
              <a:p>
                <a:pPr algn="r" rtl="1"/>
                <a:r>
                  <a:rPr lang="he-IL" dirty="0"/>
                  <a:t>הוכחנו את בעיית באזל בעזרת גיאומטריה ולקיחת גבול.</a:t>
                </a:r>
              </a:p>
              <a:p>
                <a:pPr marL="0" indent="0" algn="r" rtl="1">
                  <a:buNone/>
                </a:pPr>
                <a:endParaRPr lang="he-I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55F1F47-C188-740B-7EAE-D058421A63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60400" y="1889760"/>
                <a:ext cx="10387011" cy="3901441"/>
              </a:xfrm>
              <a:blipFill>
                <a:blip r:embed="rId2"/>
                <a:stretch>
                  <a:fillRect t="-2656" r="-1115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71633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C5A2C-3B69-4FD9-0C91-8F1441BB3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14299"/>
            <a:ext cx="9905998" cy="1905000"/>
          </a:xfrm>
        </p:spPr>
        <p:txBody>
          <a:bodyPr/>
          <a:lstStyle/>
          <a:p>
            <a:pPr algn="r" rtl="1"/>
            <a:r>
              <a:rPr lang="he-IL" dirty="0"/>
              <a:t>שאלות?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5F1F47-C188-740B-7EAE-D058421A63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400" y="1889760"/>
            <a:ext cx="10387011" cy="3901441"/>
          </a:xfrm>
        </p:spPr>
        <p:txBody>
          <a:bodyPr>
            <a:normAutofit/>
          </a:bodyPr>
          <a:lstStyle/>
          <a:p>
            <a:pPr algn="r" rtl="1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2502026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C5A2C-3B69-4FD9-0C91-8F1441BB3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14299"/>
            <a:ext cx="9905998" cy="1905000"/>
          </a:xfrm>
        </p:spPr>
        <p:txBody>
          <a:bodyPr/>
          <a:lstStyle/>
          <a:p>
            <a:pPr algn="r" rtl="1"/>
            <a:r>
              <a:rPr lang="he-IL" dirty="0"/>
              <a:t>מה עוד יש?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5F1F47-C188-740B-7EAE-D058421A63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400" y="1889760"/>
            <a:ext cx="10387011" cy="3901441"/>
          </a:xfrm>
        </p:spPr>
        <p:txBody>
          <a:bodyPr>
            <a:normAutofit/>
          </a:bodyPr>
          <a:lstStyle/>
          <a:p>
            <a:pPr algn="r" rtl="1"/>
            <a:r>
              <a:rPr lang="he-IL" dirty="0"/>
              <a:t>הוכחה עם טורי פוריה</a:t>
            </a:r>
          </a:p>
          <a:p>
            <a:pPr algn="r" rtl="1"/>
            <a:r>
              <a:rPr lang="he-IL" dirty="0"/>
              <a:t>הוכחה עם מרוכבות – משפט ה</a:t>
            </a:r>
            <a:r>
              <a:rPr lang="en-US" dirty="0"/>
              <a:t>residue</a:t>
            </a:r>
            <a:endParaRPr lang="he-IL" dirty="0"/>
          </a:p>
          <a:p>
            <a:pPr algn="r" rtl="1"/>
            <a:r>
              <a:rPr lang="he-IL" dirty="0"/>
              <a:t>הוכחה עם מרוכבות – משפט הפירוק של ויירשטראס</a:t>
            </a:r>
          </a:p>
          <a:p>
            <a:pPr algn="r" rtl="1"/>
            <a:endParaRPr lang="he-IL" dirty="0"/>
          </a:p>
          <a:p>
            <a:pPr algn="r" rtl="1"/>
            <a:r>
              <a:rPr lang="he-IL" dirty="0"/>
              <a:t>הבעיה הזו מתקשרת להסתברות, תורת המספרים, טריגונומטריה, פונקציות מרוכבות, אנליזה הרמונית...</a:t>
            </a:r>
          </a:p>
          <a:p>
            <a:pPr marL="0" indent="0" algn="r" rtl="1">
              <a:buNone/>
            </a:pP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9568890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C5A2C-3B69-4FD9-0C91-8F1441BB3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14299"/>
            <a:ext cx="9905998" cy="1905000"/>
          </a:xfrm>
        </p:spPr>
        <p:txBody>
          <a:bodyPr/>
          <a:lstStyle/>
          <a:p>
            <a:pPr algn="r" rtl="1"/>
            <a:r>
              <a:rPr lang="he-IL" dirty="0"/>
              <a:t>הכללות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55F1F47-C188-740B-7EAE-D058421A63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60400" y="1889760"/>
                <a:ext cx="10387011" cy="3901441"/>
              </a:xfrm>
            </p:spPr>
            <p:txBody>
              <a:bodyPr>
                <a:normAutofit/>
              </a:bodyPr>
              <a:lstStyle/>
              <a:p>
                <a:pPr marL="0" indent="0" algn="r" rtl="1">
                  <a:buNone/>
                </a:pPr>
                <a:r>
                  <a:rPr lang="he-IL" dirty="0"/>
                  <a:t>נגדיר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𝜁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sup>
                            </m:sSup>
                          </m:den>
                        </m:f>
                      </m:e>
                    </m:nary>
                  </m:oMath>
                </a14:m>
                <a:r>
                  <a:rPr lang="he-IL" dirty="0"/>
                  <a:t> </a:t>
                </a:r>
                <a:r>
                  <a:rPr lang="en-US" dirty="0"/>
                  <a:t> -</a:t>
                </a:r>
                <a:r>
                  <a:rPr lang="he-IL" dirty="0"/>
                  <a:t> פונקציית זטא של רימן.</a:t>
                </a:r>
              </a:p>
              <a:p>
                <a:pPr marL="0" indent="0" algn="r" rtl="1">
                  <a:buNone/>
                </a:pPr>
                <a:r>
                  <a:rPr lang="he-IL" dirty="0"/>
                  <a:t>אוילר חישב </a:t>
                </a:r>
                <a:endParaRPr lang="en-US" dirty="0"/>
              </a:p>
              <a:p>
                <a:pPr marL="0" indent="0" algn="r" rtl="1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𝜁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p>
                        </m:num>
                        <m:den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 algn="r" rtl="1">
                  <a:buNone/>
                </a:pPr>
                <a:r>
                  <a:rPr lang="he-IL" dirty="0"/>
                  <a:t>כאשר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he-IL" dirty="0"/>
                  <a:t> זה סדרת מספרים רציונאליים ספציפיים שנקראים מספרי ברנולי</a:t>
                </a:r>
              </a:p>
              <a:p>
                <a:pPr marL="0" indent="0" algn="r" rtl="1">
                  <a:buNone/>
                </a:pPr>
                <a:endParaRPr lang="he-IL" dirty="0"/>
              </a:p>
              <a:p>
                <a:pPr marL="0" indent="0" algn="r" rtl="1">
                  <a:buNone/>
                </a:pPr>
                <a:r>
                  <a:rPr lang="he-IL" dirty="0"/>
                  <a:t>מה לגבי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(3)</m:t>
                    </m:r>
                  </m:oMath>
                </a14:m>
                <a:r>
                  <a:rPr lang="he-IL" dirty="0"/>
                  <a:t> ? (</a:t>
                </a:r>
                <a:r>
                  <a:rPr lang="en-US" dirty="0" err="1"/>
                  <a:t>Apéry</a:t>
                </a:r>
                <a:r>
                  <a:rPr lang="he-IL" dirty="0"/>
                  <a:t>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55F1F47-C188-740B-7EAE-D058421A63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60400" y="1889760"/>
                <a:ext cx="10387011" cy="3901441"/>
              </a:xfrm>
              <a:blipFill>
                <a:blip r:embed="rId2"/>
                <a:stretch>
                  <a:fillRect l="-587" t="-781" r="-1232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CE633A4-37CE-D6A4-8621-898F02F36256}"/>
                  </a:ext>
                </a:extLst>
              </p:cNvPr>
              <p:cNvSpPr txBox="1"/>
              <p:nvPr/>
            </p:nvSpPr>
            <p:spPr>
              <a:xfrm>
                <a:off x="1023257" y="907074"/>
                <a:ext cx="1906676" cy="1174809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nary>
                        <m:naryPr>
                          <m:chr m:val="∑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</m:den>
                          </m:f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p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90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IL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CE633A4-37CE-D6A4-8621-898F02F362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257" y="907074"/>
                <a:ext cx="1906676" cy="117480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871320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C5A2C-3B69-4FD9-0C91-8F1441BB3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14299"/>
            <a:ext cx="9905998" cy="1905000"/>
          </a:xfrm>
        </p:spPr>
        <p:txBody>
          <a:bodyPr/>
          <a:lstStyle/>
          <a:p>
            <a:pPr algn="r" rtl="1"/>
            <a:r>
              <a:rPr lang="he-IL" dirty="0"/>
              <a:t>ההוכחה המקורית של אוילר לבעיית באזל</a:t>
            </a:r>
            <a:endParaRPr lang="en-IL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6470DFD-9D83-49D1-3579-237DDC93580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837" t="36344" r="11293" b="28857"/>
          <a:stretch/>
        </p:blipFill>
        <p:spPr>
          <a:xfrm>
            <a:off x="447472" y="1620465"/>
            <a:ext cx="8618706" cy="79766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9E36982-0C51-E147-536B-FD83733098D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753" t="26904" r="14613" b="49630"/>
          <a:stretch/>
        </p:blipFill>
        <p:spPr>
          <a:xfrm>
            <a:off x="447471" y="2418133"/>
            <a:ext cx="8443609" cy="126594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EBCFB20-66BA-DD75-1A61-00611212B66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511" t="28657" r="18021" b="42773"/>
          <a:stretch/>
        </p:blipFill>
        <p:spPr>
          <a:xfrm>
            <a:off x="447470" y="3684081"/>
            <a:ext cx="4093029" cy="91984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5798BB9-70CE-2F90-6CAE-758EEDF99BEF}"/>
                  </a:ext>
                </a:extLst>
              </p:cNvPr>
              <p:cNvSpPr txBox="1"/>
              <p:nvPr/>
            </p:nvSpPr>
            <p:spPr>
              <a:xfrm>
                <a:off x="0" y="4777059"/>
                <a:ext cx="12311743" cy="111620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1+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3!</m:t>
                          </m:r>
                        </m:den>
                      </m:f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5!</m:t>
                          </m:r>
                        </m:den>
                      </m:f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+…=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f>
                                <m:f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p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</m:nary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=1−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den>
                              </m:f>
                            </m:e>
                          </m:nary>
                        </m:e>
                      </m:d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ℎ𝑖𝑔ℎ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𝑜𝑟𝑑𝑒𝑟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𝑡𝑒𝑟𝑚𝑠</m:t>
                      </m:r>
                    </m:oMath>
                  </m:oMathPara>
                </a14:m>
                <a:endParaRPr lang="en-US" sz="2000" b="0" dirty="0"/>
              </a:p>
              <a:p>
                <a:endParaRPr lang="en-IL" sz="16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5798BB9-70CE-2F90-6CAE-758EEDF99B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777059"/>
                <a:ext cx="12311743" cy="111620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2336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634</TotalTime>
  <Words>721</Words>
  <Application>Microsoft Office PowerPoint</Application>
  <PresentationFormat>Widescreen</PresentationFormat>
  <Paragraphs>116</Paragraphs>
  <Slides>28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Arial</vt:lpstr>
      <vt:lpstr>Calibri</vt:lpstr>
      <vt:lpstr>Calibri Light</vt:lpstr>
      <vt:lpstr>Cambria Math</vt:lpstr>
      <vt:lpstr>Inter</vt:lpstr>
      <vt:lpstr>Wingdings</vt:lpstr>
      <vt:lpstr>Office Theme</vt:lpstr>
      <vt:lpstr>Equation</vt:lpstr>
      <vt:lpstr>מה הסיכוי שנהיה זרים?</vt:lpstr>
      <vt:lpstr>ניסוח</vt:lpstr>
      <vt:lpstr>נסמלץ</vt:lpstr>
      <vt:lpstr>PowerPoint Presentation</vt:lpstr>
      <vt:lpstr>קצת הסתברות</vt:lpstr>
      <vt:lpstr>שקופית בשביל מעצבנים פורמליות</vt:lpstr>
      <vt:lpstr>אי תלות</vt:lpstr>
      <vt:lpstr>אי תלות – מתקרבים לנוסחה</vt:lpstr>
      <vt:lpstr>אוילר ואוקלידס team up?</vt:lpstr>
      <vt:lpstr>אוילר – בעיית באזל</vt:lpstr>
      <vt:lpstr>בעיית באזל – קצת היסטוריה</vt:lpstr>
      <vt:lpstr>דבר ראשון, למה זה לא אינסוף?</vt:lpstr>
      <vt:lpstr>משפט פיתגורס (באינברסיה)</vt:lpstr>
      <vt:lpstr>בנייה גיאומטרית</vt:lpstr>
      <vt:lpstr>PowerPoint Presentation</vt:lpstr>
      <vt:lpstr>PowerPoint Presentation</vt:lpstr>
      <vt:lpstr>PowerPoint Presentation</vt:lpstr>
      <vt:lpstr>PowerPoint Presentation</vt:lpstr>
      <vt:lpstr>קצת מספרים</vt:lpstr>
      <vt:lpstr>PowerPoint Presentation</vt:lpstr>
      <vt:lpstr>PowerPoint Presentation</vt:lpstr>
      <vt:lpstr>ניקח גבול!</vt:lpstr>
      <vt:lpstr>סיום ההוכחה</vt:lpstr>
      <vt:lpstr>סיכום</vt:lpstr>
      <vt:lpstr>שאלות?</vt:lpstr>
      <vt:lpstr>מה עוד יש?</vt:lpstr>
      <vt:lpstr>הכללות</vt:lpstr>
      <vt:lpstr>ההוכחה המקורית של אוילר לבעיית באזל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מה הסיכוי שנהיה זרים?</dc:title>
  <dc:creator>Elad Sayag</dc:creator>
  <cp:lastModifiedBy>Elad Sayag</cp:lastModifiedBy>
  <cp:revision>59</cp:revision>
  <dcterms:created xsi:type="dcterms:W3CDTF">2022-08-11T18:11:55Z</dcterms:created>
  <dcterms:modified xsi:type="dcterms:W3CDTF">2026-08-27T13:20:01Z</dcterms:modified>
</cp:coreProperties>
</file>