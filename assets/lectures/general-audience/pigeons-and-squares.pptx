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4" r:id="rId11"/>
    <p:sldId id="265" r:id="rId12"/>
    <p:sldId id="266" r:id="rId13"/>
    <p:sldId id="267" r:id="rId14"/>
    <p:sldId id="268" r:id="rId15"/>
    <p:sldId id="270" r:id="rId16"/>
    <p:sldId id="273" r:id="rId17"/>
    <p:sldId id="271" r:id="rId18"/>
    <p:sldId id="272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3" r:id="rId27"/>
    <p:sldId id="281" r:id="rId28"/>
    <p:sldId id="282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447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23T14:09:11.2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219 170 24575,'0'-26'0,"1"13"0,0 1 0,-2-1 0,0 1 0,-3-18 0,3 27 0,1 0 0,-1 0 0,0 0 0,0 0 0,-1 1 0,1-1 0,-1 0 0,1 1 0,-1-1 0,0 1 0,0 0 0,0-1 0,0 1 0,0 0 0,0 0 0,-1 0 0,1 1 0,-1-1 0,1 0 0,-1 1 0,0 0 0,0-1 0,-3 0 0,-6-1 0,1 1 0,-1 0 0,0 1 0,-17 0 0,23 1 0,-1 0 0,1 0 0,0 1 0,0 0 0,-1 0 0,1 1 0,0-1 0,0 1 0,-10 5 0,15-6 0,0-1 0,0 1 0,0 0 0,0 0 0,0-1 0,0 1 0,0 0 0,0 0 0,0 0 0,0 0 0,0 0 0,1 0 0,-1 0 0,0 0 0,1 0 0,-1 0 0,1 0 0,-1 1 0,1-1 0,-1 0 0,1 0 0,0 2 0,0-2 0,0 1 0,1-1 0,-1 0 0,0 1 0,1-1 0,0 0 0,-1 0 0,1 0 0,0 0 0,-1 1 0,1-1 0,0 0 0,0 0 0,0 0 0,0 0 0,0-1 0,1 2 0,4 2 0,-1-1 0,1 1 0,0-1 0,0-1 0,0 1 0,0-1 0,9 2 0,8-2 0,-18-2 0,0 1 0,0-1 0,0 1 0,0 0 0,7 2 0,-6 26 0,-4-26 0,-1-1 0,1 1 0,0-1 0,0 1 0,0-1 0,0 0 0,1 1 0,-1-1 0,0 0 0,1-1 0,0 1 0,-1 0 0,1-1 0,0 0 0,0 1 0,0-1 0,0 0 0,0 0 0,0-1 0,0 1 0,5 0 0,-6-1 0,0 0 0,0 0 0,0-1 0,0 1 0,0 0 0,0-1 0,0 1 0,0-1 0,0 0 0,0 0 0,0 0 0,-1 0 0,1 0 0,0 0 0,-1 0 0,1 0 0,-1 0 0,1-1 0,-1 1 0,0-1 0,1 1 0,-1-1 0,0 0 0,0 1 0,0-1 0,0 0 0,0 0 0,-1 0 0,1 0 0,0 1 0,-1-1 0,0 0 0,1 0 0,-1-3 0,0 2 0,1 0 0,-1 0 0,0 0 0,0 1 0,-1-1 0,1 0 0,-1 0 0,1 0 0,-1 0 0,0 0 0,0 1 0,0-1 0,0 0 0,0 1 0,-1-1 0,1 1 0,-1-1 0,0 1 0,0 0 0,0 0 0,0 0 0,0 0 0,0 0 0,0 0 0,-1 0 0,1 1 0,-1-1 0,1 1 0,-1 0 0,0 0 0,1 0 0,-6-1 0,-3-1 0,0 0 0,0 2 0,0-1 0,0 1 0,0 1 0,0 0 0,-16 2 0,25-2 0,-1 0 0,1 1 0,-1-1 0,1 1 0,-1-1 0,1 1 0,0 0 0,-1 0 0,1 0 0,0 0 0,0 0 0,0 1 0,-1-1 0,1 1 0,1-1 0,-1 1 0,0 0 0,0 0 0,1 0 0,-1 0 0,1 0 0,-1 0 0,1 0 0,0 1 0,0-1 0,0 0 0,0 1 0,0-1 0,1 0 0,-1 1 0,1-1 0,-1 1 0,1 4 0,0-4 0,0 1 0,1-1 0,-1 0 0,1 1 0,0-1 0,0 0 0,0 0 0,0 0 0,1 1 0,-1-1 0,1-1 0,0 1 0,0 0 0,0 0 0,0-1 0,0 1 0,1-1 0,-1 1 0,1-1 0,-1 0 0,1 0 0,0 0 0,0-1 0,0 1 0,3 1 0,2 0 0,0-1 0,0 0 0,0 0 0,0-1 0,1 0 0,-1 0 0,8-1 0,-13 0 0,0 0 0,-1 0 0,1 0 0,0 0 0,-1-1 0,1 1 0,-1-1 0,1 0 0,-1 0 0,1 0 0,-1 0 0,0 0 0,1 0 0,-1-1 0,0 1 0,0-1 0,0 0 0,0 1 0,0-1 0,0 0 0,-1 0 0,1 0 0,-1 0 0,1 0 0,1-4 0,-3 5 0,1 0 0,-1 0 0,1-1 0,-1 1 0,0 0 0,0 0 0,1 0 0,-1-1 0,0 1 0,0 0 0,0 0 0,0-1 0,-1 1 0,1 0 0,0 0 0,0 0 0,-1-1 0,1 1 0,-1 0 0,1 0 0,-1 0 0,1 0 0,-2-1 0,1 0 0,-1 0 0,0 1 0,0-1 0,0 1 0,0 0 0,0-1 0,0 1 0,0 0 0,0 0 0,0 0 0,-3 0 0,-6-2 0,0 1 0,0 0 0,-22 0 0,-6 5 0,38-3 0,0 0 0,1 0 0,-1 0 0,0 0 0,0 0 0,0 0 0,0 1 0,0-1 0,1 0 0,-1 1 0,0-1 0,0 0 0,0 1 0,1-1 0,-1 1 0,0 0 0,1-1 0,-1 1 0,0-1 0,1 1 0,-1 0 0,1-1 0,-1 1 0,1 0 0,-1 0 0,1 0 0,0-1 0,-1 1 0,1 0 0,0 0 0,0 0 0,-1 0 0,1-1 0,0 1 0,0 0 0,0 0 0,0 0 0,0 0 0,0 0 0,1 1 0,0-1 0,-1 1 0,1-1 0,0 1 0,0-1 0,1 0 0,-1 1 0,0-1 0,0 0 0,1 0 0,-1 0 0,0 0 0,1 0 0,-1 0 0,1 0 0,-1-1 0,1 1 0,0 0 0,-1-1 0,1 1 0,1-1 0,38 7 0,-39-7 0,4 1 0,0-1 0,-1 0 0,1 0 0,-1-1 0,1 1 0,5-2 0,-10 2 0,0-1 0,0 1 0,0 0 0,0-1 0,0 1 0,0-1 0,0 1 0,0-1 0,0 1 0,0-1 0,0 0 0,0 1 0,0-1 0,0 0 0,-1 0 0,1 0 0,0 0 0,-1 0 0,1 1 0,-1-1 0,1 0 0,-1-1 0,1 1 0,-1 0 0,0 0 0,1 0 0,-1 0 0,0 0 0,0 0 0,0 0 0,0 0 0,0 0 0,0-1 0,0 1 0,0 0 0,-1-1 0,1-1 18,-1 0 0,0 0-1,0 0 1,0 1-1,0-1 1,0 0 0,-1 1-1,1-1 1,-1 1 0,0 0-1,1-1 1,-1 1 0,0 0-1,0 0 1,-1 0-1,1 0 1,-3-1 0,-4-2-183,1 0 1,-1 1-1,-16-5 1,5 1-861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23T14:09:13.8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56 114 24575,'0'-1'0,"0"0"0,0 1 0,0-1 0,-1 1 0,1-1 0,0 0 0,0 1 0,-1-1 0,1 1 0,-1-1 0,1 1 0,0-1 0,-1 1 0,1 0 0,-1-1 0,1 1 0,-1-1 0,1 1 0,-1 0 0,0-1 0,1 1 0,-1 0 0,1 0 0,-1 0 0,0-1 0,1 1 0,-1 0 0,0 0 0,1 0 0,-1 0 0,1 0 0,-1 0 0,0 0 0,1 0 0,-1 0 0,0 0 0,1 1 0,-1-1 0,0 0 0,1 0 0,-1 1 0,1-1 0,-1 0 0,1 1 0,-1-1 0,1 0 0,-1 1 0,1-1 0,-1 1 0,1-1 0,-1 1 0,1-1 0,-1 1 0,-2 3 0,1 0 0,-1 0 0,1 0 0,-1 0 0,1 0 0,1 1 0,-1-1 0,0 1 0,1-1 0,0 1 0,0 5 0,-5 57 0,6-60 0,2 213 0,-1-218 0,-1 1 0,0-1 0,0 0 0,1 1 0,-1-1 0,1 0 0,0 1 0,0-1 0,0 0 0,0 0 0,0 1 0,0-1 0,1 0 0,-1 0 0,1 0 0,-1-1 0,1 1 0,0 0 0,0-1 0,0 1 0,0-1 0,0 1 0,0-1 0,0 0 0,0 0 0,0 0 0,1 0 0,-1 0 0,0 0 0,4 0 0,-2-1 0,-1 0 0,1 0 0,0 0 0,-1 0 0,1-1 0,-1 1 0,1-1 0,-1 0 0,1 0 0,-1 0 0,0-1 0,1 1 0,-1-1 0,0 0 0,0 0 0,0 0 0,0 0 0,-1 0 0,1-1 0,3-3 0,-1-1 0,0 0 0,0 0 0,-1-1 0,0 0 0,0 0 0,-1 0 0,0 0 0,0-1 0,-1 1 0,0-1 0,1-16 0,-1-9 0,-3-59 0,-1 53 0,2-15 0,-2-39 0,2 91-42,-1 1-1,1 0 0,-1-1 1,1 1-1,-1-1 0,1 1 1,-1 0-1,0-1 0,0 1 1,-1 0-1,1 0 0,0 0 1,-1 0-1,1 0 0,-1 0 1,1 0-1,-1 1 0,0-1 1,0 0-1,0 1 0,0-1 1,0 1-1,0 0 0,0 0 1,-1 0-1,1 0 0,0 0 1,-1 0-1,1 1 0,0-1 1,-3 0-1,-15-1-6783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23T14:09:59.9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221 610 24575,'53'54'0,"101"78"0,-117-104 0,41 27 0,-76-54 0,0 0 0,0 0 0,0 0 0,0 0 0,0 0 0,1 0 0,-1-1 0,0 1 0,3 0 0,-4-1 0,0 0 0,-1 0 0,1-1 0,0 1 0,-1 0 0,1 0 0,-1 0 0,1-1 0,0 1 0,-1 0 0,1-1 0,-1 1 0,1 0 0,-1-1 0,1 1 0,-1-1 0,1 1 0,-1-1 0,1 1 0,-1-1 0,0 1 0,1-1 0,-1 0 0,0 1 0,1-1 0,-1 1 0,0-1 0,0 0 0,0 1 0,0-1 0,1 0 0,-1 1 0,0-1 0,0 0 0,0 1 0,0-1 0,-1 0 0,1 0 0,0-10 0,0 0 0,-1 0 0,0 0 0,-1 0 0,0 1 0,-1-1 0,0 0 0,0 1 0,-1 0 0,-1 0 0,0 0 0,-6-9 0,-10-11 0,0 1 0,-36-35 0,37 44 0,2-1 0,0-1 0,1 0 0,2-1 0,-15-28 0,-4-11 0,33 62 0,1 0 0,0-1 0,-1 1 0,1-1 0,0 1 0,0 0 0,-1-1 0,1 1 0,0-1 0,0 1 0,0-1 0,-1 1 0,1-1 0,0 1 0,0-1 0,0 1 0,0-1 0,0 1 0,0-1 0,0 0 0,0 1 0,0-1 0,1 0 0,9 3 0,20 16 0,-28-17 0,279 187 0,-167-100 0,-86-64 0,-27-23 0,0 0 0,0 0 0,1 0 0,-1 0 0,0 0 0,0 0 0,0-1 0,0 1 0,1 0 0,-1-1 0,0 1 0,1-1 0,-1 0 0,0 1 0,3-1 0,-3 0 0,-1 0 0,1 0 0,-1-1 0,1 1 0,-1 0 0,0-1 0,1 1 0,-1 0 0,0-1 0,1 1 0,-1 0 0,0-1 0,1 1 0,-1-1 0,0 1 0,0-1 0,0 1 0,1 0 0,-1-1 0,0 1 0,0-1 0,0 1 0,0-1 0,0 1 0,0-1 0,0 1 0,0-1 0,0 1 0,0-1 0,-1-9 0,0 0 0,-1 1 0,-4-15 0,2 8 0,-2-24 0,1 0 0,2 0 0,2-1 0,5-48 0,-4 86 0,1 1 0,-1-1 0,0 1 0,1-1 0,0 1 0,-1 0 0,1-1 0,0 1 0,0 0 0,1 0 0,-1-1 0,0 1 0,1 0 0,-1 0 0,1 0 0,0 1 0,0-1 0,-1 0 0,4-1 0,-2 1 0,1 0 0,-1 1 0,1-1 0,-1 1 0,1 0 0,0 0 0,0 0 0,0 0 0,0 1 0,0 0 0,4-1 0,4 2 0,0 0 0,1 1 0,-1 0 0,0 1 0,0 0 0,21 9 0,-20-6 0,-1 1 0,0 0 0,0 1 0,0 0 0,-1 1 0,10 10 0,54 64 0,-44-46 0,-25-30 0,0 1 0,0-1 0,-1 1 0,-1 0 0,1 1 0,-1-1 0,-1 1 0,1-1 0,-2 1 0,1 0 0,-1 0 0,2 18 0,-3-17 0,0 0 0,1-1 0,0 1 0,1-1 0,0 0 0,4 10 0,-7-19 0,0 1 0,0-1 0,1 0 0,-1 1 0,0-1 0,0 0 0,0 1 0,1-1 0,-1 0 0,0 1 0,0-1 0,1 0 0,-1 0 0,0 1 0,0-1 0,1 0 0,-1 0 0,0 1 0,1-1 0,-1 0 0,1 0 0,-1 0 0,0 0 0,1 0 0,-1 0 0,0 1 0,1-1 0,0 0 0,-1-1 0,1 1 0,-1-1 0,0 1 0,1-1 0,-1 1 0,0-1 0,0 1 0,1-1 0,-1 1 0,0-1 0,0 1 0,0-1 0,0 1 0,0-1 0,0 1 0,0-1 0,0 1 0,0-1 0,0 0 0,0 0 0,-2-16 0,0 1 0,-2 0 0,0 0 0,-8-23 0,-6-19 0,11 25 0,0-1 0,3 0 0,0-1 0,3 1 0,2-43 0,-1 72 0,1 1 0,-1 0 0,1-1 0,0 1 0,-1 0 0,2 0 0,-1 0 0,0 0 0,1 0 0,0 0 0,0 0 0,0 0 0,1 1 0,-1-1 0,1 1 0,0 0 0,-1 0 0,2 0 0,-1 0 0,0 0 0,1 0 0,-1 1 0,1 0 0,-1 0 0,1 0 0,0 0 0,0 0 0,0 1 0,0 0 0,0 0 0,9-1 0,-1-1 0,1 2 0,-1 0 0,0 0 0,17 2 0,-23 0 0,-1 0 0,0 0 0,0 0 0,1 1 0,-1-1 0,0 1 0,0 0 0,-1 1 0,1-1 0,0 1 0,-1 0 0,7 5 0,21 20 0,-14-13 0,31 32 0,-44-41 0,-1-1 0,1 1 0,-2 0 0,1 0 0,0 1 0,-1-1 0,0 1 0,-1 0 0,0 0 0,3 10 0,1 62 0,0-3 0,-1-43 0,-1 0 0,0 57 0,-5-85 0,1-1 0,-1 0 0,1 0 0,-1 0 0,0 0 0,0 0 0,-1 0 0,1-1 0,-1 1 0,0 0 0,0-1 0,0 1 0,-1-1 0,1 1 0,-6 4 0,3-4 0,0 0 0,0 0 0,0-1 0,-1 1 0,0-1 0,1 0 0,-1-1 0,-1 1 0,-6 1 0,-11 1 0,0-1 0,0-1 0,-1-1 0,-27-1 0,49-1 0,-45-1 0,1-2 0,-55-10 0,-91-30 0,-18 0 0,181 38 0,0 2 0,0 1 0,-42 3 0,35 0 0,-52-5 0,76 2 0,1 0 0,-1-1 0,1 0 0,0-1 0,0 0 0,0-1 0,0-1 0,-10-6 0,11 6 0,1-1 0,1 0 0,-1-1 0,1 0 0,0 0 0,-7-11 0,13 17 0,1-1 0,0 0 0,0 0 0,1 0 0,-1 0 0,1 0 0,-1 0 0,1 0 0,0 0 0,0-1 0,0 1 0,1 0 0,-1-1 0,1 1 0,0-1 0,0 1 0,0-1 0,0 1 0,0 0 0,1-1 0,0 1 0,-1-1 0,1 1 0,1 0 0,1-6 0,4-1 0,0 0 0,0 0 0,1 1 0,0-1 0,1 2 0,0-1 0,0 1 0,1 1 0,0-1 0,0 2 0,0 0 0,22-10 0,-5 5 0,1 0 0,1 2 0,0 1 0,35-5 0,26 3 0,1 5 0,141 8 0,-64 1 0,-164-3 0,0-1 0,0 0 0,0 1 0,0-1 0,0 1 0,0 0 0,0 1 0,0-1 0,0 1 0,0 0 0,4 2 0,-7-3 0,0 0 0,1 0 0,-1 0 0,0 0 0,0 0 0,0 0 0,0 1 0,0-1 0,0 0 0,-1 1 0,1-1 0,0 0 0,-1 1 0,1-1 0,-1 1 0,1-1 0,-1 1 0,0-1 0,1 1 0,-1-1 0,0 1 0,0-1 0,0 1 0,0-1 0,-1 1 0,1-1 0,0 1 0,-1-1 0,1 1 0,-1-1 0,1 1 0,-1-1 0,-1 2 0,0 1 0,0 0 0,-1 0 0,0-1 0,0 0 0,0 1 0,0-1 0,0 0 0,-1 0 0,1-1 0,-1 1 0,0-1 0,0 0 0,0 0 0,-4 2 0,-12 3 0,-34 9 0,43-13 0,-450 109 0,356-89 0,353-14 0,-191-3 0,0 3 0,76 21 0,-67-12 0,122 19 0,-186-37 0,-1 0 0,1 0 0,0 0 0,-1 1 0,1-1 0,0 1 0,-1-1 0,1 1 0,-1-1 0,1 1 0,1 1 0,-6 2 0,-14-1 0,-284 7 0,213-11 0,-235 1 0,316-1 0,1 1 0,-1 1 0,0-1 0,1 1 0,-1 1 0,-9 2 0,14-4 0,1 1 0,0 0 0,-1-1 0,1 1 0,0 0 0,0 0 0,0 0 0,-1 0 0,1 0 0,0 0 0,0 0 0,0 0 0,0 0 0,1 0 0,-1 1 0,0-1 0,0 0 0,1 1 0,-1-1 0,1 0 0,-1 1 0,1-1 0,0 1 0,-1-1 0,1 1 0,0-1 0,0 1 0,0-1 0,0 0 0,0 1 0,1-1 0,-1 1 0,0-1 0,1 1 0,0 1 0,3 5 0,-1-1 0,2-1 0,-1 1 0,1-1 0,0 1 0,0-2 0,1 1 0,9 7 0,-7-3 0,-61-26 0,-1 3 0,-58-7 0,109 20 0,1 0 0,-1-1 0,0 1 0,1-1 0,-1 0 0,1 0 0,-1 0 0,1 0 0,-3-2 0,5 2 0,-1 1 0,1 0 0,0 0 0,0 0 0,0 0 0,0-1 0,-1 1 0,1 0 0,0 0 0,0 0 0,0 0 0,0-1 0,0 1 0,0 0 0,0 0 0,0-1 0,-1 1 0,1 0 0,0 0 0,0 0 0,0-1 0,0 1 0,0 0 0,0 0 0,0-1 0,0 1 0,1 0 0,-1 0 0,0-1 0,0 1 0,0 0 0,0 0 0,0 0 0,0-1 0,0 1 0,0 0 0,1 0 0,16-10 0,4 5 0,0 0 0,1 0 0,32-1 0,74 3 0,-75 2 0,384 1 0,-257 1 0,-179-1 0,29-2 0,-19-3 0,-11 5 0,0 0 0,0 0 0,1-1 0,-1 1 0,0 0 0,0 0 0,0-1 0,0 1 0,0 0 0,0 0 0,0-1 0,0 1 0,0 0 0,0-1 0,0 1 0,0 0 0,0 0 0,0-1 0,0 1 0,0 0 0,-1 0 0,1-1 0,0 1 0,0 0 0,0 0 0,0-1 0,0 1 0,-1 0 0,1 0 0,0 0 0,0-1 0,0 1 0,-1 0 0,1 0 0,0 0 0,0 0 0,-1-1 0,-4-2 0,0 0 0,0 0 0,0 0 0,0 0 0,0 1 0,-1 0 0,1 0 0,-1 1 0,-11-3 0,-59-3 0,57 6 0,-473-5 0,266 9 0,145-5 0,-91 4 0,169-1 0,0-1 0,0 1 0,1 0 0,-1-1 0,0 1 0,1 0 0,-1 1 0,1-1 0,-1 0 0,1 1 0,0-1 0,0 1 0,-1 0 0,1 0 0,0 0 0,0 0 0,1 0 0,-1 0 0,0 1 0,1-1 0,0 0 0,-1 1 0,1-1 0,0 1 0,0 0 0,0-1 0,1 1 0,-1 0 0,1-1 0,-1 6 0,-1 6 0,2 0 0,-1 1 0,2-1 0,3 24 0,-4-36 0,1 1 0,-1 0 0,1 0 0,0 0 0,0-1 0,0 1 0,0 0 0,0-1 0,1 1 0,-1-1 0,1 1 0,0-1 0,0 0 0,0 0 0,0 0 0,0 0 0,0 0 0,0 0 0,1 0 0,-1-1 0,1 1 0,-1-1 0,1 0 0,-1 0 0,1 0 0,0 0 0,0 0 0,3 0 0,7 1 0,1 0 0,0-1 0,1-1 0,21-2 0,-12 1 0,130-4 0,-142 3 0,0-1 0,-1 0 0,1-1 0,-1 0 0,1-1 0,-1 0 0,0-1 0,16-11 0,-14 8 0,0 2 0,0-1 0,1 2 0,-1 0 0,24-7 0,-6 7 0,0 2 0,49-1 0,67 8 0,-41 1 0,-13-4 0,-951 0 0,833 2 0,19 3 0,17 3 0,3-2 0,-1-2 0,1 1 0,0-2 0,1 0 0,17 2 0,82 2 0,-78-5 0,160 3 0,191 15 0,-204 11 0,-171-30 0,-15-1 0,-22-3 0,-39-9 0,-20-4 0,-131-8 0,-268 23 0,234 3 0,245-2 0,-5 0 0,1 0 0,-1-1 0,-15-3 0,23 4 0,0 0 0,0 0 0,0 0 0,0 0 0,0 0 0,0-1 0,0 1 0,0-1 0,0 1 0,0 0 0,0-1 0,0 0 0,0 1 0,1-1 0,-1 1 0,0-1 0,0 0 0,1 0 0,-1 1 0,0-1 0,1 0 0,-1 0 0,1 0 0,-1 0 0,1 0 0,-1 1 0,1-1 0,0 0 0,0 0 0,-1 0 0,1 0 0,0 0 0,0 0 0,0 0 0,0 0 0,0 0 0,0 0 0,0 0 0,0 0 0,1 0 0,-1 0 0,1-2 0,2-2 0,0-1 0,1 1 0,0 0 0,0 1 0,0-1 0,1 0 0,-1 1 0,1 0 0,0 0 0,0 1 0,7-4 0,-6 3 0,88-56 0,3 4 0,2 4 0,117-43 0,-164 77 0,1 4 0,73-12 0,-92 22 0,-27 4 0,1-1 0,-1 0 0,1 0 0,-1-1 0,0 1 0,1-2 0,-1 1 0,0-1 0,0 0 0,-1 0 0,1-1 0,6-4 0,-4-1 0,0 1 0,1 1 0,0-1 0,0 1 0,0 1 0,1 0 0,0 1 0,0 0 0,1 1 0,0 0 0,-1 0 0,1 1 0,0 1 0,14-1 0,-11 2 0,-1 1 0,1 0 0,0 1 0,-1 1 0,1 0 0,23 7 0,-32-7 0,-1 1 0,0-1 0,0 1 0,0-1 0,-1 1 0,1 1 0,-1-1 0,1 1 0,-1-1 0,0 1 0,0 1 0,-1-1 0,1 0 0,-1 1 0,0 0 0,0 0 0,-1 0 0,1 0 0,-1 0 0,2 9 0,1 8 0,-2 0 0,0 0 0,-2 0 0,-1 0 0,0 1 0,-4 24 0,0 21 0,4-59 0,0 3 0,-1 0 0,-3 22 0,3-30 0,-1 0 0,1 1 0,-1-1 0,0 0 0,0 0 0,0 0 0,0 0 0,-1 0 0,0 0 0,-6 6 0,2-3 0,0 0 0,0 0 0,-1-1 0,0 0 0,0 0 0,-1-1 0,-18 8 0,27-12 0,-1-1 0,0 0 0,0 1 0,1-1 0,-1 0 0,0 0 0,0 1 0,1-1 0,-1 0 0,0 0 0,0 0 0,0 0 0,1 0 0,-1 0 0,0 0 0,0 0 0,1-1 0,-1 1 0,0 0 0,0 0 0,1-1 0,-1 1 0,0 0 0,1-1 0,-1 1 0,0-1 0,1 1 0,-1-1 0,0 1 0,0-1 0,1-1 0,-1 0 0,1 1 0,-1-1 0,1 1 0,0-1 0,0 0 0,-1 1 0,1-1 0,0 1 0,1-1 0,-1 0 0,0 1 0,1-4 0,3-7 0,0-1 0,9-20 0,-12 30 0,67-137 0,35-83 0,-87 179 0,-11 27 0,1 1 0,1 0 0,0 1 0,1 0 0,10-15 0,-10 18 0,-1 0 0,0-1 0,9-22 0,-15 34 0,-1 7 0,0-1 0,0 1 0,0 0 0,-1-1 0,-1 8 0,-7 7 0,0-1 0,-23 35 0,21-38 0,1 1 0,-9 22 0,41-93 0,-10 28 0,13-47 0,-18 55 0,-5 28 0,-4 32 0,-1-28 0,-1 0 0,-11 25 0,-4 13 0,13-33 0,-1 0 0,0-1 0,-1 0 0,-1 0 0,-13 19 0,24-48 0,7-13 0,59-78 0,-9 15 0,-49 71 0,2 1 0,0 0 0,1 1 0,0 0 0,1 1 0,0 0 0,1 2 0,1-1 0,0 2 0,0 0 0,1 1 0,0 1 0,0 0 0,1 1 0,0 1 0,1 1 0,-1 1 0,1 0 0,24-1 0,-43 5 0,1 0 0,0 0 0,-1-1 0,1 1 0,0 0 0,-1 0 0,1 0 0,0 0 0,-1 0 0,1 0 0,0 1 0,-1-1 0,1 0 0,0 0 0,-1 0 0,1 1 0,0-1 0,-1 0 0,1 1 0,-1-1 0,1 0 0,-1 1 0,1-1 0,-1 1 0,1 0 0,-1 0 0,0-1 0,0 1 0,0 0 0,0 0 0,0-1 0,0 1 0,0 0 0,0-1 0,-1 1 0,1 0 0,0 0 0,-1-1 0,1 1 0,0-1 0,-1 1 0,1 0 0,-1-1 0,1 1 0,-1 0 0,-34 31 0,30-29 0,-196 170 0,119-88 0,62-61 0,-1-2 0,-1 0 0,-27 20 0,26-25 0,-32 32 0,45-40 0,1 1 0,1 0 0,0 0 0,1 1 0,-12 20 0,19-30 0,-1 1 0,0-1 0,1 1 0,-1-1 0,1 1 0,-1-1 0,1 1 0,0-1 0,-1 1 0,1-1 0,0 1 0,0-1 0,0 1 0,0 0 0,1-1 0,-1 1 0,1 2 0,0-3 0,-1 0 0,1 0 0,0 0 0,-1 0 0,1 0 0,0 0 0,0 0 0,0 0 0,0-1 0,0 1 0,0 0 0,0 0 0,0-1 0,0 1 0,1-1 0,-1 1 0,2 0 0,3 0 0,1 0 0,-1 0 0,1-1 0,-1 0 0,1 0 0,-1 0 0,9-2 0,7-2 0,0 0 0,-1-2 0,1-1 0,30-14 0,80-48 0,-79 39 0,-39 22 0,0-1 0,15-14 0,-18 14 0,0 0 0,0 1 0,20-10 0,-20 13 0,-1-1 0,0 0 0,0 0 0,-1-1 0,0 0 0,0-1 0,12-14 0,-18 19 0,1-1 0,-1 0 0,-1 0 0,1 0 0,0-1 0,-1 1 0,0-1 0,0 1 0,0-1 0,-1 0 0,0 0 0,1 0 0,-2 0 0,1 0 0,-1 0 0,1 0 0,-1 0 0,-1 0 0,1 0 0,-2-6 0,1 6 0,-1 0 0,0 0 0,-1 1 0,1-1 0,-1 0 0,0 1 0,0-1 0,0 1 0,0 0 0,-1 0 0,-7-6 0,-4-2 0,-31-19 0,23 16 0,21 14 0,-1-1 0,1 1 0,-1-1 0,0 1 0,0 0 0,1 0 0,-1 0 0,0 1 0,0-1 0,0 1 0,0-1 0,0 1 0,0 0 0,0 0 0,0 0 0,0 1 0,0-1 0,0 1 0,0-1 0,0 1 0,0 0 0,0 0 0,1 0 0,-5 3 0,-4 3 0,0 0 0,1 1 0,0 0 0,-13 15 0,-4 2 0,7-10 0,-1 0 0,-27 13 0,33-20 0,1 0 0,-1 1 0,2 1 0,-1 0 0,1 0 0,1 2 0,-19 20 0,21-18 0,-8 9 0,2 1 0,-19 35 0,34-57 0,0 0 0,1 0 0,-1 0 0,0 0 0,1 0 0,-1 0 0,1 0 0,0 0 0,-1 0 0,1 0 0,0 0 0,0 0 0,1 0 0,-1 1 0,1 1 0,-1-4 0,1 1 0,-1 0 0,0-1 0,1 1 0,0 0 0,-1-1 0,1 1 0,-1-1 0,1 1 0,0-1 0,-1 1 0,1-1 0,0 1 0,0-1 0,-1 0 0,1 1 0,0-1 0,0 0 0,0 0 0,-1 1 0,1-1 0,0 0 0,0 0 0,0 0 0,0 0 0,-1 0 0,1 0 0,0 0 0,0-1 0,0 1 0,-1 0 0,1 0 0,0-1 0,0 1 0,0 0 0,-1-1 0,1 1 0,0-1 0,0 0 0,8-4 0,1 0 0,-1-1 0,-1-1 0,1 1 0,-1-1 0,0-1 0,8-10 0,-8 9 0,0 1 0,0 0 0,1 0 0,0 1 0,1 0 0,15-9 0,80-34 0,-96 46 0,1 0 0,-1 0 0,13-2 0,16-6 0,-37 12 0,-1 0 0,1-1 0,-1 1 0,0 0 0,1 0 0,-1 0 0,1 0 0,-1-1 0,1 1 0,-1 0 0,0 0 0,1-1 0,-1 1 0,0 0 0,1-1 0,-1 1 0,0 0 0,0-1 0,1 1 0,-1 0 0,0-1 0,0 1 0,1-1 0,-1 1 0,0 0 0,0-1 0,0 1 0,0-1 0,0 1 0,0-1 0,0 1 0,0-1 0,0 0 0,0 1 0,-1-1 0,1 0 0,-1 0 0,0 0 0,1 0 0,-1 1 0,0-1 0,0 0 0,1 1 0,-1-1 0,0 1 0,0-1 0,-2 0 0,-35-13 0,-73-3 0,0 4 0,-190 4 0,270 7 0,1-2 0,0 0 0,0-3 0,-55-18 0,17 5 0,34 11 0,0-1 0,0 1 0,-1 2 0,1 2 0,-38-2 0,49 7 0,-101 3 0,121-3 0,1 0 0,-1 1 0,1-1 0,-1 1 0,0 0 0,1 0 0,0 0 0,-1 0 0,1 0 0,0 1 0,-1-1 0,1 1 0,0-1 0,0 1 0,0 0 0,0 0 0,1 0 0,-1 0 0,0 0 0,1 0 0,-1 0 0,1 1 0,0-1 0,0 0 0,0 1 0,0-1 0,0 1 0,1-1 0,-1 1 0,1 0 0,-1 3 0,1-1 0,-1 0 0,2-1 0,-1 1 0,0 0 0,1 0 0,0-1 0,0 1 0,0 0 0,1-1 0,-1 1 0,1-1 0,0 1 0,1-1 0,-1 0 0,1 0 0,6 7 0,-1-3 0,1-1 0,0 0 0,0 0 0,1-1 0,0-1 0,0 0 0,0 0 0,13 4 0,8 1 0,50 10 0,-21-13 0,1-2 0,113-6 0,-100-1 0,-813 2 0,762 2 0,1 0 0,-1 2 0,-1 1 0,44 14 0,-8-3 0,11 3 0,1-4 0,1-2 0,115 4 0,-184-17 0,34-1 0,-24-5 0,-12 6 0,0-1 0,0 1 0,0 0 0,0-1 0,0 1 0,0-1 0,0 1 0,-1-1 0,1 1 0,0-1 0,0 1 0,0 0 0,0-1 0,-1 1 0,1-1 0,0 1 0,0 0 0,-1-1 0,1 1 0,0 0 0,0-1 0,-1 1 0,1 0 0,0-1 0,-1 1 0,1 0 0,-1 0 0,1 0 0,-1-1 0,-26-16 0,0 1 0,-2 1 0,-44-16 0,59 25 0,-40-15 0,-75-18 0,97 27 0,32 12 0,-1 0 0,1 0 0,0 0 0,-1 0 0,1 0 0,-1-1 0,1 1 0,-1 0 0,1 0 0,0 0 0,-1-1 0,1 1 0,0 0 0,-1-1 0,1 1 0,0 0 0,-1-1 0,1 1 0,0 0 0,-1-1 0,1 1 0,0 0 0,0-1 0,0 1 0,-1-1 0,1 1 0,0 0 0,0-1 0,0 1 0,0-1 0,0 1 0,0-1 0,0 1 0,0-1 0,0 1 0,0-1 0,0 1 0,0 0 0,0-1 0,0 1 0,0-1 0,1 1 0,-1-1 0,0 1 0,0 0 0,0-1 0,1 1 0,-1 0 0,0-1 0,0 1 0,1-1 0,-1 1 0,0 0 0,1 0 0,-1-1 0,0 1 0,1 0 0,-1 0 0,1-1 0,-1 1 0,0 0 0,1 0 0,-1 0 0,1 0 0,-1 0 0,1-1 0,14-3 0,0-1 0,0 2 0,0 0 0,0 1 0,1 0 0,-1 1 0,17 1 0,0-1 0,90-2 0,235 25 0,-351-22 0,0 1 0,0 0 0,0 0 0,0 1 0,0 0 0,0 0 0,-1 0 0,1 1 0,7 4 0,-12-7 0,-1 0 0,1 0 0,-1 1 0,1-1 0,-1 0 0,0 0 0,1 1 0,-1-1 0,1 0 0,-1 1 0,0-1 0,1 0 0,-1 1 0,0-1 0,1 1 0,-1-1 0,0 1 0,0-1 0,1 0 0,-1 1 0,0-1 0,0 1 0,0-1 0,0 1 0,0-1 0,0 1 0,0-1 0,0 1 0,0-1 0,0 1 0,0-1 0,0 1 0,0-1 0,0 1 0,0-1 0,0 1 0,0-1 0,-1 1 0,1-1 0,0 1 0,0-1 0,-1 1 0,1-1 0,0 0 0,-1 1 0,1-1 0,0 1 0,-1-1 0,1 0 0,-1 1 0,1-1 0,0 0 0,-1 0 0,1 1 0,-1-1 0,1 0 0,-1 0 0,-32 10 0,10-7 0,0-1 0,0-1 0,0-2 0,0 0 0,-23-4 0,-116-29 0,113 21 0,-2 3 0,-83-8 0,110 19 0,24-1 0,-1 0 0,1 0 0,0 0 0,0 0 0,0 0 0,0-1 0,0 1 0,-1 0 0,1 1 0,0-1 0,0 0 0,0 0 0,0 0 0,0 0 0,0 0 0,-1 0 0,1 0 0,0 0 0,0 0 0,0 0 0,0 0 0,0 0 0,0 0 0,0 0 0,-1 0 0,1 0 0,0 1 0,0-1 0,0 0 0,0 0 0,0 0 0,0 0 0,0 0 0,0 0 0,0 1 0,0-1 0,0 0 0,0 0 0,0 0 0,0 0 0,-1 0 0,1 0 0,0 1 0,0-1 0,0 0 0,0 0 0,1 0 0,-1 0 0,0 0 0,0 1 0,0-1 0,0 0 0,0 0 0,0 0 0,0 0 0,0 0 0,0 0 0,0 0 0,0 1 0,0-1 0,0 0 0,1 0 0,11 10 0,18 8 0,52 19 0,162 51 0,-176-66 0,20 1 0,10 4 0,-83-23 0,1 0 0,-1-1 0,1-1 0,0 0 0,28-2 0,26 4 0,138 29 0,-142-22 0,-54-8 0,-31-7 0,-262-67 0,108 23 0,-54-1 0,167 40 0,-109-4 0,154 15 0,33 4 0,241 75 0,-137-40 0,-113-39 0,-5-1 0,1 1 0,0-1 0,-1 1 0,1 0 0,-1 0 0,0 0 0,0 1 0,6 4 0,-9-7 0,-1 0 0,0 0 0,0 0 0,0 1 0,0-1 0,0 0 0,0 0 0,1 0 0,-1 1 0,0-1 0,0 0 0,0 0 0,0 0 0,0 1 0,0-1 0,0 0 0,0 0 0,0 1 0,0-1 0,0 0 0,0 0 0,0 0 0,0 1 0,0-1 0,0 0 0,-1 0 0,1 1 0,0-1 0,0 0 0,0 0 0,0 0 0,0 1 0,0-1 0,-1 0 0,1 0 0,0 0 0,0 0 0,0 1 0,0-1 0,-1 0 0,1 0 0,0 0 0,0 0 0,0 0 0,-1 0 0,1 0 0,0 0 0,0 0 0,0 1 0,-1-1 0,1 0 0,0 0 0,-16 3 0,-24 1 0,0-2 0,-1-1 0,1-2 0,-53-9 0,67 4 0,1-2 0,-1 0 0,2-2 0,-36-19 0,-4-1 0,51 22 0,13 8 0,-1 0 0,1 0 0,0 0 0,0 0 0,0 0 0,0 0 0,0 0 0,0 0 0,0 0 0,0-1 0,0 1 0,0 0 0,0 0 0,0 0 0,0 0 0,-1 0 0,1 0 0,0 0 0,0-1 0,0 1 0,0 0 0,0 0 0,0 0 0,0 0 0,0 0 0,0 0 0,0 0 0,0-1 0,1 1 0,-1 0 0,0 0 0,0 0 0,0 0 0,0 0 0,0 0 0,0 0 0,0 0 0,0-1 0,0 1 0,0 0 0,0 0 0,0 0 0,0 0 0,1 0 0,-1 0 0,0 0 0,0 0 0,0 0 0,0 0 0,0 0 0,26-4 0,26 6 0,-39-1 0,0 0 0,0-1 0,0 0 0,0-1 0,0-1 0,15-3 0,-28 5 0,1 0 0,0 0 0,0 0 0,-1 0 0,1-1 0,0 1 0,-1 0 0,1 0 0,0-1 0,-1 1 0,1-1 0,-1 1 0,1 0 0,0-1 0,-1 1 0,1-1 0,-1 1 0,1-1 0,-1 0 0,0 1 0,1-1 0,-1 1 0,1-1 0,-1 0 0,0 1 0,0-1 0,1 0 0,-1 1 0,0-1 0,0 0 0,0 0 0,0 1 0,0-1 0,0 0 0,0 1 0,0-1 0,0 0 0,0 0 0,0 1 0,0-1 0,-1 0 0,1 1 0,0-1 0,0 0 0,-1 1 0,1-1 0,-1 0 0,1 1 0,-1-1 0,-2-3 0,0 0 0,0 0 0,-1 1 0,1 0 0,-1-1 0,-5-2 0,-25-17 0,0 2 0,-55-25 0,77 42 0,12 4 0,0 0 0,0 0 0,0 0 0,0 1 0,0-1 0,0 0 0,0 0 0,0 0 0,0 0 0,0 0 0,0 0 0,0 0 0,1 0 0,-1 0 0,0 0 0,0 0 0,0 0 0,0 0 0,0 0 0,0 0 0,0 0 0,0 0 0,0 0 0,0 0 0,0 0 0,0 1 0,0-1 0,0 0 0,0 0 0,0 0 0,0 0 0,0 0 0,0 0 0,0 0 0,0 0 0,0 0 0,0 0 0,0 0 0,0 0 0,0 0 0,0 0 0,0 0 0,0 0 0,0 1 0,0-1 0,-1 0 0,1 0 0,0 0 0,0 0 0,0 0 0,0 0 0,0 0 0,0 0 0,0 0 0,0 0 0,0 0 0,0 0 0,0 0 0,0 0 0,0 0 0,0 0 0,0 0 0,0 0 0,-1 0 0,25 16 0,462 219 0,-479-231 0,2 0 0,101 41 0,-96-40 0,0-1 0,0 0 0,0-2 0,1 1 0,26 0 0,-171-10 0,52 7 0,-53-3 0,112 2 0,0-1 0,0-2 0,1 0 0,-32-11 0,10-1 0,27 9 0,-1 1 0,0 0 0,0 1 0,-1 1 0,0 0 0,1 1 0,-1 1 0,-16-1 0,30 3 0,0 0 0,1 0 0,-1 0 0,0 0 0,0 0 0,0 0 0,1 0 0,-1 0 0,0 1 0,0-1 0,1 0 0,-1 1 0,0-1 0,0 0 0,1 1 0,-1-1 0,0 1 0,1-1 0,-1 1 0,0 0 0,1-1 0,0 1 0,0-1 0,-1 1 0,1 0 0,0-1 0,0 1 0,0-1 0,0 1 0,0-1 0,0 1 0,1-1 0,-1 1 0,0-1 0,0 1 0,0-1 0,0 1 0,1-1 0,-1 1 0,0-1 0,0 1 0,1-1 0,0 1 0,27 28 0,-21-23 0,12 11 0,23 14 0,8 7 0,-49-37 0,-1-1 0,1 0 0,-1 1 0,1-1 0,-1 1 0,1-1 0,-1 1 0,1-1 0,-1 1 0,0-1 0,1 1 0,-1-1 0,0 1 0,1-1 0,-1 1 0,0 0 0,0-1 0,1 2 0,-9 1 0,-21-7 0,-29-17 0,-68-35 0,82 34 0,0 3 0,-88-26 0,121 44 0,12 4 0,19 7 0,98 40 0,3-5 0,134 31 0,-210-67 0,1-1 0,78 2 0,-101-4 0,-23-6 0,0 0 0,0 0 0,0 0 0,1 0 0,-1 0 0,0 0 0,0 0 0,0 0 0,0 0 0,0 0 0,0 1 0,0-1 0,0 0 0,0 0 0,0 0 0,1 0 0,-1 0 0,0 0 0,0 0 0,0 0 0,0 0 0,0 1 0,0-1 0,0 0 0,0 0 0,0 0 0,0 0 0,0 0 0,0 0 0,0 0 0,0 1 0,0-1 0,0 0 0,0 0 0,0 0 0,0 0 0,0 0 0,0 0 0,0 0 0,0 1 0,0-1 0,0 0 0,0 0 0,0 0 0,-1 0 0,1 0 0,0 0 0,-12 5 0,-22-2 0,0-1 0,0-1 0,0-2 0,-68-11 0,1 1 0,-261 6 0,205 7 0,-11-2 0,168 0 0,0 0 0,0 0 0,0 0 0,0 0 0,0 0 0,0 0 0,0 0 0,0 0 0,0 0 0,0 0 0,0 0 0,0 0 0,0 0 0,0 0 0,0 0 0,0 0 0,0 0 0,0 0 0,0 0 0,0 0 0,0 1 0,0-1 0,0 0 0,0 0 0,0 0 0,0 0 0,0 0 0,0 0 0,0 0 0,0 0 0,0 0 0,0 0 0,0 0 0,0 0 0,0 0 0,0 0 0,0 0 0,0 0 0,0 0 0,0 0 0,0 0 0,0 0 0,0 1 0,0-1 0,0 0 0,0 0 0,0 0 0,0 0 0,0 0 0,-1 0 0,11 5 0,13 3 0,114 31 0,-27-7 0,-58-18 0,0-3 0,1-2 0,0-2 0,58 0 0,118-8 0,-281-15 0,-14 7 0,0 4 0,-112 6 0,67 1 0,-318-2 0,407 0 0,0 1 0,1 1 0,-1 1 0,1 0 0,-1 2 0,-27 10 0,36-6 0,13-8 0,0-1 0,0 0 0,0 1 0,0-1 0,0 0 0,0 0 0,0 1 0,1-1 0,-1 0 0,0 0 0,0 1 0,0-1 0,0 0 0,0 0 0,0 1 0,0-1 0,1 0 0,-1 0 0,0 1 0,0-1 0,0 0 0,0 0 0,1 0 0,-1 0 0,0 1 0,0-1 0,0 0 0,1 0 0,-1 0 0,0 0 0,1 0 0,2 2 0,1-1 0,-1 0 0,1 0 0,0 0 0,-1 0 0,7 0 0,661 26 0,-593-26 0,101-4 0,-149 0 0,0-1 0,0-1 0,55-17 0,-37 7 0,86-16 0,-130 30 0,1 0 0,-1-1 0,1 1 0,-1-1 0,0 0 0,0 0 0,0 0 0,0-1 0,0 1 0,-1-1 0,1 0 0,-1 0 0,1 0 0,3-6 0,3-4 0,-1 0 0,13-26 0,-8 14 0,-4 10 0,-1-2 0,-1 1 0,0-1 0,-1 0 0,-1-1 0,-1 1 0,4-24 0,23-181 0,-29 207 0,1 1 0,0-1 0,0 1 0,8-15 0,6-16 0,14-61 0,-28 96 0,1 0 0,1 0 0,10-15 0,-10 17 0,-1-1 0,0 1 0,0-1 0,4-11 0,-9 19 0,1 1 0,-1-1 0,0 1 0,0-1 0,1 0 0,-1 1 0,0-1 0,0 0 0,0 0 0,0 1 0,0-1 0,0 0 0,0 1 0,0-1 0,0 0 0,0 0 0,0 1 0,0-1 0,-1 0 0,1 1 0,0-1 0,0 0 0,-1 0 0,0 1 0,1-1 0,-1 1 0,0 0 0,1 0 0,-1-1 0,0 1 0,1 0 0,-1 0 0,0 0 0,1 0 0,-1 0 0,1 0 0,-1 0 0,0 0 0,1 0 0,-1 1 0,0-1 0,1 0 0,-2 1 0,-31 17 0,-101 68 0,99-64 0,13-10-59,-1-1-1,-1-1 0,1-1 1,-35 9-1,25-8-1007,16-5-5759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EFB588-93F8-403E-8124-2FB30E509DC7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60698F-E7CB-433D-A247-0ECA82C95B6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10015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60698F-E7CB-433D-A247-0ECA82C95B62}" type="slidenum">
              <a:rPr lang="en-IL" smtClean="0"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444210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60698F-E7CB-433D-A247-0ECA82C95B62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45409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הגשר בו המילטון המציא את הקוונטריונים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60698F-E7CB-433D-A247-0ECA82C95B62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640490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אוקלידס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60698F-E7CB-433D-A247-0ECA82C95B62}" type="slidenum">
              <a:rPr lang="en-IL" smtClean="0"/>
              <a:t>10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954378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65125" indent="-185738">
              <a:buNone/>
            </a:pPr>
            <a:r>
              <a:rPr lang="he-IL" sz="1200" dirty="0"/>
              <a:t>נפרק את הקבוצה לחתיכות לפי חלקי הקבוצה בכל משבצת. </a:t>
            </a:r>
          </a:p>
          <a:p>
            <a:pPr marL="365125" indent="-185738">
              <a:buNone/>
            </a:pPr>
            <a:r>
              <a:rPr lang="he-IL" sz="1200" dirty="0"/>
              <a:t>נזיז את החלקים בצורה מקבילה למשבצת משותפת. </a:t>
            </a:r>
          </a:p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60698F-E7CB-433D-A247-0ECA82C95B62}" type="slidenum">
              <a:rPr lang="en-IL" smtClean="0"/>
              <a:t>14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202871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60698F-E7CB-433D-A247-0ECA82C95B62}" type="slidenum">
              <a:rPr lang="en-IL" smtClean="0"/>
              <a:t>16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539602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גם זה סוג של שובך יונים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60698F-E7CB-433D-A247-0ECA82C95B62}" type="slidenum">
              <a:rPr lang="en-IL" smtClean="0"/>
              <a:t>20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96484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5F5A-484A-4D84-B589-835EB28F2AF3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0766A-CF48-4647-BEF2-BDD186F66EE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92777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5F5A-484A-4D84-B589-835EB28F2AF3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0766A-CF48-4647-BEF2-BDD186F66EE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35584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5F5A-484A-4D84-B589-835EB28F2AF3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0766A-CF48-4647-BEF2-BDD186F66EE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60094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5F5A-484A-4D84-B589-835EB28F2AF3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0766A-CF48-4647-BEF2-BDD186F66EE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61693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5F5A-484A-4D84-B589-835EB28F2AF3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0766A-CF48-4647-BEF2-BDD186F66EE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04560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5F5A-484A-4D84-B589-835EB28F2AF3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0766A-CF48-4647-BEF2-BDD186F66EE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80026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5F5A-484A-4D84-B589-835EB28F2AF3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0766A-CF48-4647-BEF2-BDD186F66EE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08785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5F5A-484A-4D84-B589-835EB28F2AF3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0766A-CF48-4647-BEF2-BDD186F66EE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1901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5F5A-484A-4D84-B589-835EB28F2AF3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0766A-CF48-4647-BEF2-BDD186F66EE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00593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5F5A-484A-4D84-B589-835EB28F2AF3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0766A-CF48-4647-BEF2-BDD186F66EE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38545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5F5A-484A-4D84-B589-835EB28F2AF3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0766A-CF48-4647-BEF2-BDD186F66EE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74903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5F5A-484A-4D84-B589-835EB28F2AF3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0766A-CF48-4647-BEF2-BDD186F66EE3}" type="slidenum">
              <a:rPr lang="en-IL" smtClean="0"/>
              <a:t>‹#›</a:t>
            </a:fld>
            <a:endParaRPr lang="en-IL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819897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5F5A-484A-4D84-B589-835EB28F2AF3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0766A-CF48-4647-BEF2-BDD186F66EE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770967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5F5A-484A-4D84-B589-835EB28F2AF3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0766A-CF48-4647-BEF2-BDD186F66EE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242654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5F5A-484A-4D84-B589-835EB28F2AF3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0766A-CF48-4647-BEF2-BDD186F66EE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50640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5F5A-484A-4D84-B589-835EB28F2AF3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0766A-CF48-4647-BEF2-BDD186F66EE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462172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B5F5A-484A-4D84-B589-835EB28F2AF3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0766A-CF48-4647-BEF2-BDD186F66EE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11071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48B5F5A-484A-4D84-B589-835EB28F2AF3}" type="datetimeFigureOut">
              <a:rPr lang="en-IL" smtClean="0"/>
              <a:t>27/08/2026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A00766A-CF48-4647-BEF2-BDD186F66EE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77975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customXml" Target="../ink/ink2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1A909-1BDE-4B2A-E6C3-4EB72496F9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dirty="0"/>
              <a:t>על יונים וריבועים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F2F7C1-FF9C-85B6-7504-5844E3AE9A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 dirty="0"/>
              <a:t>אלעד סייג</a:t>
            </a:r>
            <a:endParaRPr lang="en-IL" dirty="0"/>
          </a:p>
        </p:txBody>
      </p:sp>
      <p:sp>
        <p:nvSpPr>
          <p:cNvPr id="7" name="PB">
            <a:extLst>
              <a:ext uri="{FF2B5EF4-FFF2-40B4-BE49-F238E27FC236}">
                <a16:creationId xmlns:a16="http://schemas.microsoft.com/office/drawing/2014/main" id="{34EB8E72-72A4-2114-FD40-6E45DB921594}"/>
              </a:ext>
            </a:extLst>
          </p:cNvPr>
          <p:cNvSpPr/>
          <p:nvPr/>
        </p:nvSpPr>
        <p:spPr>
          <a:xfrm>
            <a:off x="0" y="6705600"/>
            <a:ext cx="435429" cy="152400"/>
          </a:xfrm>
          <a:prstGeom prst="rect">
            <a:avLst/>
          </a:prstGeom>
          <a:solidFill>
            <a:srgbClr val="7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4098" name="Picture 2" descr="תוצאת תמונה עבור יונים">
            <a:extLst>
              <a:ext uri="{FF2B5EF4-FFF2-40B4-BE49-F238E27FC236}">
                <a16:creationId xmlns:a16="http://schemas.microsoft.com/office/drawing/2014/main" id="{18EED7AD-41F8-E155-57D2-552BF9FD11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693" y="681185"/>
            <a:ext cx="2559623" cy="1995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EE30877-3893-505E-2586-CD726F829522}"/>
              </a:ext>
            </a:extLst>
          </p:cNvPr>
          <p:cNvSpPr/>
          <p:nvPr/>
        </p:nvSpPr>
        <p:spPr>
          <a:xfrm>
            <a:off x="6411483" y="957944"/>
            <a:ext cx="927001" cy="8339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2B8D46-F360-235F-5D9A-896F75315F6C}"/>
              </a:ext>
            </a:extLst>
          </p:cNvPr>
          <p:cNvSpPr/>
          <p:nvPr/>
        </p:nvSpPr>
        <p:spPr>
          <a:xfrm>
            <a:off x="8970233" y="1507120"/>
            <a:ext cx="333931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44AD19-29E0-4A0A-FAD0-32FF9E1FEFF6}"/>
              </a:ext>
            </a:extLst>
          </p:cNvPr>
          <p:cNvSpPr/>
          <p:nvPr/>
        </p:nvSpPr>
        <p:spPr>
          <a:xfrm>
            <a:off x="7906053" y="1268797"/>
            <a:ext cx="489857" cy="511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AA2514-3B6D-C567-4BEF-330F1E6264C3}"/>
              </a:ext>
            </a:extLst>
          </p:cNvPr>
          <p:cNvSpPr/>
          <p:nvPr/>
        </p:nvSpPr>
        <p:spPr>
          <a:xfrm>
            <a:off x="9819652" y="1268798"/>
            <a:ext cx="560686" cy="5153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97DD43-82DD-F218-D28A-7683D19CBD73}"/>
                  </a:ext>
                </a:extLst>
              </p:cNvPr>
              <p:cNvSpPr txBox="1"/>
              <p:nvPr/>
            </p:nvSpPr>
            <p:spPr>
              <a:xfrm>
                <a:off x="7421233" y="1389806"/>
                <a:ext cx="38836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97DD43-82DD-F218-D28A-7683D19CB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1233" y="1389806"/>
                <a:ext cx="388361" cy="276999"/>
              </a:xfrm>
              <a:prstGeom prst="rect">
                <a:avLst/>
              </a:prstGeom>
              <a:blipFill>
                <a:blip r:embed="rId4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76ACB41-F322-4F6B-9D4C-60C99680F530}"/>
                  </a:ext>
                </a:extLst>
              </p:cNvPr>
              <p:cNvSpPr txBox="1"/>
              <p:nvPr/>
            </p:nvSpPr>
            <p:spPr>
              <a:xfrm>
                <a:off x="8488891" y="1391119"/>
                <a:ext cx="38836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76ACB41-F322-4F6B-9D4C-60C99680F5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8891" y="1391119"/>
                <a:ext cx="388361" cy="276999"/>
              </a:xfrm>
              <a:prstGeom prst="rect">
                <a:avLst/>
              </a:prstGeom>
              <a:blipFill>
                <a:blip r:embed="rId5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701FE03-526A-3771-3EE6-E5E610CC5836}"/>
                  </a:ext>
                </a:extLst>
              </p:cNvPr>
              <p:cNvSpPr txBox="1"/>
              <p:nvPr/>
            </p:nvSpPr>
            <p:spPr>
              <a:xfrm>
                <a:off x="9431562" y="1396277"/>
                <a:ext cx="38836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701FE03-526A-3771-3EE6-E5E610CC5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1562" y="1396277"/>
                <a:ext cx="388361" cy="276999"/>
              </a:xfrm>
              <a:prstGeom prst="rect">
                <a:avLst/>
              </a:prstGeom>
              <a:blipFill>
                <a:blip r:embed="rId6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CB4B2F7-5074-48AA-6840-A9AFA0BD2B00}"/>
                  </a:ext>
                </a:extLst>
              </p:cNvPr>
              <p:cNvSpPr txBox="1"/>
              <p:nvPr/>
            </p:nvSpPr>
            <p:spPr>
              <a:xfrm>
                <a:off x="10487478" y="1428933"/>
                <a:ext cx="130873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Num</a:t>
                </a:r>
                <a:endParaRPr lang="en-IL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CB4B2F7-5074-48AA-6840-A9AFA0BD2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7478" y="1428933"/>
                <a:ext cx="1308739" cy="276999"/>
              </a:xfrm>
              <a:prstGeom prst="rect">
                <a:avLst/>
              </a:prstGeom>
              <a:blipFill>
                <a:blip r:embed="rId7"/>
                <a:stretch>
                  <a:fillRect l="-3721" t="-28261" b="-5000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7294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2F0EB-F24B-F2D8-D1A4-DE79B2666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 מטרות ההרצאה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1363D-D757-F828-D484-A5D11D0EA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sz="2800" dirty="0"/>
              <a:t>לשמוע על משפט 4 הריבועים של לגראנז'</a:t>
            </a:r>
          </a:p>
          <a:p>
            <a:pPr algn="r" rtl="1"/>
            <a:r>
              <a:rPr lang="he-IL" sz="2800" dirty="0"/>
              <a:t>לראות שעקרונות פשוטים כמו שובך יונים הם די חזקים.</a:t>
            </a:r>
          </a:p>
          <a:p>
            <a:pPr algn="r" rtl="1"/>
            <a:r>
              <a:rPr lang="he-IL" sz="2800" dirty="0"/>
              <a:t>לראות את היופי במתמטיקה</a:t>
            </a:r>
          </a:p>
        </p:txBody>
      </p:sp>
      <p:sp>
        <p:nvSpPr>
          <p:cNvPr id="7" name="PB">
            <a:extLst>
              <a:ext uri="{FF2B5EF4-FFF2-40B4-BE49-F238E27FC236}">
                <a16:creationId xmlns:a16="http://schemas.microsoft.com/office/drawing/2014/main" id="{BB150369-39E1-A7A5-8782-DD195A39AAE0}"/>
              </a:ext>
            </a:extLst>
          </p:cNvPr>
          <p:cNvSpPr/>
          <p:nvPr/>
        </p:nvSpPr>
        <p:spPr>
          <a:xfrm>
            <a:off x="0" y="6705600"/>
            <a:ext cx="870857" cy="152400"/>
          </a:xfrm>
          <a:prstGeom prst="rect">
            <a:avLst/>
          </a:prstGeom>
          <a:solidFill>
            <a:srgbClr val="7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05844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AAC2-8321-51D3-A0AE-A8E7E241E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מה יהיה לנו היום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5B8C4-CC7F-D8BA-3F44-81C7A8541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sz="2800" dirty="0"/>
              <a:t>ניסוח משפט 4 הריבועים של לגראנז’</a:t>
            </a:r>
            <a:endParaRPr lang="en-US" sz="2800" dirty="0"/>
          </a:p>
          <a:p>
            <a:pPr algn="r" rtl="1"/>
            <a:r>
              <a:rPr lang="he-IL" sz="2800" dirty="0"/>
              <a:t>נוסחה מגניבה – מספרים קוונטריונים</a:t>
            </a:r>
          </a:p>
          <a:p>
            <a:pPr algn="r" rtl="1"/>
            <a:r>
              <a:rPr lang="he-IL" sz="2800" dirty="0"/>
              <a:t>עקרון שובח היונים</a:t>
            </a:r>
          </a:p>
          <a:p>
            <a:pPr algn="r" rtl="1"/>
            <a:r>
              <a:rPr lang="he-IL" sz="2800" dirty="0"/>
              <a:t>הלמה של מינקובסקי – גרסה גיאומטרית של עקרון שובח היונים</a:t>
            </a:r>
          </a:p>
          <a:p>
            <a:pPr algn="r" rtl="1"/>
            <a:r>
              <a:rPr lang="he-IL" sz="2800" dirty="0"/>
              <a:t>הוכחת משפט לגראנז'</a:t>
            </a:r>
          </a:p>
          <a:p>
            <a:pPr algn="r" rtl="1"/>
            <a:r>
              <a:rPr lang="he-IL" sz="2800" dirty="0"/>
              <a:t>סיכום</a:t>
            </a:r>
          </a:p>
          <a:p>
            <a:pPr algn="r" rtl="1"/>
            <a:endParaRPr lang="en-IL" sz="2800" dirty="0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D1B8B941-511C-D821-6809-F35691454E36}"/>
              </a:ext>
            </a:extLst>
          </p:cNvPr>
          <p:cNvSpPr/>
          <p:nvPr/>
        </p:nvSpPr>
        <p:spPr>
          <a:xfrm>
            <a:off x="0" y="6705600"/>
            <a:ext cx="1306286" cy="152400"/>
          </a:xfrm>
          <a:prstGeom prst="rect">
            <a:avLst/>
          </a:prstGeom>
          <a:solidFill>
            <a:srgbClr val="7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20168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AAC2-8321-51D3-A0AE-A8E7E241E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מה קורה שמחברים ריבועים?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5B8C4-CC7F-D8BA-3F44-81C7A8541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486" y="2273299"/>
            <a:ext cx="11615057" cy="3124201"/>
          </a:xfrm>
        </p:spPr>
        <p:txBody>
          <a:bodyPr>
            <a:noAutofit/>
          </a:bodyPr>
          <a:lstStyle/>
          <a:p>
            <a:pPr algn="r" rtl="1"/>
            <a:r>
              <a:rPr lang="he-IL" sz="2800" dirty="0"/>
              <a:t>ריבועים – </a:t>
            </a:r>
            <a:r>
              <a:rPr lang="en-US" sz="2800" dirty="0"/>
              <a:t>0,1,4,9,16,25,36,49,64,81,100,121,144</a:t>
            </a:r>
            <a:r>
              <a:rPr lang="he-IL" sz="2800" dirty="0"/>
              <a:t>  וכן הלאה</a:t>
            </a:r>
            <a:endParaRPr lang="en-US" sz="2800" dirty="0"/>
          </a:p>
          <a:p>
            <a:pPr algn="r" rtl="1"/>
            <a:r>
              <a:rPr lang="en-US" sz="2800" dirty="0"/>
              <a:t>3</a:t>
            </a:r>
            <a:r>
              <a:rPr lang="he-IL" sz="2800" dirty="0"/>
              <a:t> – לא סכום של 2 ריבועים</a:t>
            </a:r>
          </a:p>
          <a:p>
            <a:pPr algn="r" rtl="1"/>
            <a:r>
              <a:rPr lang="he-IL" sz="2800" b="0" dirty="0"/>
              <a:t>7 – לא סכום של </a:t>
            </a:r>
            <a:r>
              <a:rPr lang="he-IL" sz="2800" dirty="0"/>
              <a:t>3 ריבועים</a:t>
            </a:r>
          </a:p>
          <a:p>
            <a:pPr algn="r" rtl="1"/>
            <a:r>
              <a:rPr lang="he-IL" sz="2800" b="0" dirty="0"/>
              <a:t>15=9+4+1+</a:t>
            </a:r>
            <a:r>
              <a:rPr lang="he-IL" sz="2800" dirty="0"/>
              <a:t>1 ,  23=9+9+4+1.</a:t>
            </a:r>
          </a:p>
          <a:p>
            <a:pPr algn="r" rtl="1"/>
            <a:r>
              <a:rPr lang="he-IL" sz="3600" b="1" dirty="0"/>
              <a:t>משפט לגראנז': כל מספר טבעי הוא סכום של 4 ריבועים. </a:t>
            </a:r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8D249067-A8C4-2283-5E95-D5C8B0C31971}"/>
              </a:ext>
            </a:extLst>
          </p:cNvPr>
          <p:cNvSpPr/>
          <p:nvPr/>
        </p:nvSpPr>
        <p:spPr>
          <a:xfrm>
            <a:off x="0" y="6705600"/>
            <a:ext cx="1741714" cy="152400"/>
          </a:xfrm>
          <a:prstGeom prst="rect">
            <a:avLst/>
          </a:prstGeom>
          <a:solidFill>
            <a:srgbClr val="7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25461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AAC2-8321-51D3-A0AE-A8E7E241E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ז'וזף לואי לגראנז' </a:t>
            </a:r>
            <a:r>
              <a:rPr lang="he-IL" sz="2800" dirty="0"/>
              <a:t>(1736-1813)</a:t>
            </a:r>
            <a:endParaRPr lang="en-IL" dirty="0"/>
          </a:p>
        </p:txBody>
      </p:sp>
      <p:pic>
        <p:nvPicPr>
          <p:cNvPr id="5" name="Picture 6" descr="https://upload.wikimedia.org/wikipedia/commons/thumb/1/17/Beijing-Mean-Value-Theorem-3733.jpg/250px-Beijing-Mean-Value-Theorem-3733.jpg">
            <a:extLst>
              <a:ext uri="{FF2B5EF4-FFF2-40B4-BE49-F238E27FC236}">
                <a16:creationId xmlns:a16="http://schemas.microsoft.com/office/drawing/2014/main" id="{80386295-D5AB-9953-7C0E-86DBECD77C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05790" y="2701483"/>
            <a:ext cx="3965426" cy="2982002"/>
          </a:xfrm>
          <a:prstGeom prst="rect">
            <a:avLst/>
          </a:prstGeom>
          <a:noFill/>
        </p:spPr>
      </p:pic>
      <p:pic>
        <p:nvPicPr>
          <p:cNvPr id="6" name="Picture 2" descr="Lagrange portrait.jpg">
            <a:extLst>
              <a:ext uri="{FF2B5EF4-FFF2-40B4-BE49-F238E27FC236}">
                <a16:creationId xmlns:a16="http://schemas.microsoft.com/office/drawing/2014/main" id="{89472FDF-01C5-15AD-8576-E568E0DBDE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60585" y="567540"/>
            <a:ext cx="2598415" cy="2919070"/>
          </a:xfrm>
          <a:prstGeom prst="rect">
            <a:avLst/>
          </a:prstGeom>
          <a:noFill/>
        </p:spPr>
      </p:pic>
      <p:pic>
        <p:nvPicPr>
          <p:cNvPr id="7" name="Picture 4" descr="https://upload.wikimedia.org/wikipedia/commons/thumb/e/ee/Lagrange_points2.svg/250px-Lagrange_points2.svg.png">
            <a:extLst>
              <a:ext uri="{FF2B5EF4-FFF2-40B4-BE49-F238E27FC236}">
                <a16:creationId xmlns:a16="http://schemas.microsoft.com/office/drawing/2014/main" id="{C6DAE533-6088-85EB-FF8B-3541A39F4A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118006" y="3486610"/>
            <a:ext cx="2400942" cy="2045603"/>
          </a:xfrm>
          <a:prstGeom prst="rect">
            <a:avLst/>
          </a:prstGeom>
          <a:noFill/>
        </p:spPr>
      </p:pic>
      <p:pic>
        <p:nvPicPr>
          <p:cNvPr id="8" name="Picture 2" descr="Image result for Lagrange theorem">
            <a:extLst>
              <a:ext uri="{FF2B5EF4-FFF2-40B4-BE49-F238E27FC236}">
                <a16:creationId xmlns:a16="http://schemas.microsoft.com/office/drawing/2014/main" id="{381EBC60-5CE8-EBEA-0DCC-D6E82C1DA7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60585" y="3611798"/>
            <a:ext cx="2933896" cy="1656184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B3973A9-898B-8C37-1BF1-53EF87B8801F}"/>
              </a:ext>
            </a:extLst>
          </p:cNvPr>
          <p:cNvSpPr txBox="1"/>
          <p:nvPr/>
        </p:nvSpPr>
        <p:spPr>
          <a:xfrm>
            <a:off x="4724400" y="1931678"/>
            <a:ext cx="5254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/>
              <a:t>~ "לו הייתי עשיר, לא הייתי מקדיש את חיי למתמטיקה"</a:t>
            </a:r>
            <a:endParaRPr lang="en-IL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1C66D10-F445-736B-0515-51D427EEF47B}"/>
              </a:ext>
            </a:extLst>
          </p:cNvPr>
          <p:cNvCxnSpPr>
            <a:cxnSpLocks/>
          </p:cNvCxnSpPr>
          <p:nvPr/>
        </p:nvCxnSpPr>
        <p:spPr>
          <a:xfrm flipV="1">
            <a:off x="2271562" y="3907971"/>
            <a:ext cx="1309838" cy="74103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PB">
            <a:extLst>
              <a:ext uri="{FF2B5EF4-FFF2-40B4-BE49-F238E27FC236}">
                <a16:creationId xmlns:a16="http://schemas.microsoft.com/office/drawing/2014/main" id="{23B27E7F-BB51-5136-2E61-5DBBCF00A8E9}"/>
              </a:ext>
            </a:extLst>
          </p:cNvPr>
          <p:cNvSpPr/>
          <p:nvPr/>
        </p:nvSpPr>
        <p:spPr>
          <a:xfrm>
            <a:off x="0" y="6705600"/>
            <a:ext cx="2177143" cy="152400"/>
          </a:xfrm>
          <a:prstGeom prst="rect">
            <a:avLst/>
          </a:prstGeom>
          <a:solidFill>
            <a:srgbClr val="7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10278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AAC2-8321-51D3-A0AE-A8E7E241E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משפט לגארנז' </a:t>
            </a:r>
            <a:r>
              <a:rPr lang="he-IL" sz="2400" dirty="0"/>
              <a:t>(1770)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5B8C4-CC7F-D8BA-3F44-81C7A8541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sz="3200" b="1" dirty="0"/>
              <a:t>משפט לגראנז': כל מספר טבעי הוא סכום של 4 ריבועים. </a:t>
            </a:r>
          </a:p>
          <a:p>
            <a:pPr algn="r" rtl="1"/>
            <a:endParaRPr lang="en-IL" sz="2400" dirty="0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518E0435-66D4-E582-7084-836F9E1CF7E5}"/>
              </a:ext>
            </a:extLst>
          </p:cNvPr>
          <p:cNvSpPr/>
          <p:nvPr/>
        </p:nvSpPr>
        <p:spPr>
          <a:xfrm>
            <a:off x="0" y="6705600"/>
            <a:ext cx="2612571" cy="152400"/>
          </a:xfrm>
          <a:prstGeom prst="rect">
            <a:avLst/>
          </a:prstGeom>
          <a:solidFill>
            <a:srgbClr val="7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13560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AAC2-8321-51D3-A0AE-A8E7E241E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זהות מגניבה – מספרים מרוכבים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E5B8C4-CC7F-D8BA-3F44-81C7A85413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r" rtl="1"/>
                <a:r>
                  <a:rPr lang="he-IL" sz="2800" dirty="0"/>
                  <a:t>מספרים מרוכבים -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he-IL" sz="2800" dirty="0"/>
                  <a:t> כאשר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he-IL" sz="2800" dirty="0"/>
                  <a:t> הוא מספר קסום ש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he-IL" sz="2800" dirty="0"/>
                  <a:t>. </a:t>
                </a:r>
              </a:p>
              <a:p>
                <a:pPr algn="r" rtl="1"/>
                <a:r>
                  <a:rPr lang="he-IL" sz="2800" dirty="0"/>
                  <a:t>אפשר לחבר ולהכפיל מספרים מרוכבים.</a:t>
                </a:r>
              </a:p>
              <a:p>
                <a:pPr algn="r" rtl="1"/>
                <a:r>
                  <a:rPr lang="he-IL" sz="2800" dirty="0"/>
                  <a:t>ייצוג גיאומטרי – נקודות במישור.</a:t>
                </a:r>
                <a:endParaRPr lang="en-US" sz="2800" dirty="0"/>
              </a:p>
              <a:p>
                <a:pPr algn="r" rtl="1"/>
                <a:r>
                  <a:rPr lang="he-IL" sz="2800" dirty="0"/>
                  <a:t> אורך של מספר מרוכב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800" dirty="0"/>
              </a:p>
              <a:p>
                <a:pPr algn="r" rtl="1"/>
                <a:r>
                  <a:rPr lang="he-IL" sz="2800" dirty="0"/>
                  <a:t>שמכפילים מספרים מרוכבים, האורכים מוכפלים.</a:t>
                </a:r>
              </a:p>
              <a:p>
                <a:pPr marL="36900" indent="0" algn="r" rtl="1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  <a:p>
                <a:pPr marL="36900" indent="0" algn="ctr" rtl="1">
                  <a:buNone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/>
                  <a:t> ,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he-IL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E5B8C4-CC7F-D8BA-3F44-81C7A85413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B">
            <a:extLst>
              <a:ext uri="{FF2B5EF4-FFF2-40B4-BE49-F238E27FC236}">
                <a16:creationId xmlns:a16="http://schemas.microsoft.com/office/drawing/2014/main" id="{4CCA1AF1-667D-05F3-5EB3-B24D75EB1020}"/>
              </a:ext>
            </a:extLst>
          </p:cNvPr>
          <p:cNvSpPr/>
          <p:nvPr/>
        </p:nvSpPr>
        <p:spPr>
          <a:xfrm>
            <a:off x="0" y="6705600"/>
            <a:ext cx="3048000" cy="152400"/>
          </a:xfrm>
          <a:prstGeom prst="rect">
            <a:avLst/>
          </a:prstGeom>
          <a:solidFill>
            <a:srgbClr val="7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60022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AAC2-8321-51D3-A0AE-A8E7E241E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זהות מגניבה – קוונטריונים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E5B8C4-CC7F-D8BA-3F44-81C7A85413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7000" y="1732449"/>
                <a:ext cx="11798300" cy="4058751"/>
              </a:xfrm>
            </p:spPr>
            <p:txBody>
              <a:bodyPr>
                <a:noAutofit/>
              </a:bodyPr>
              <a:lstStyle/>
              <a:p>
                <a:pPr algn="r" rtl="1"/>
                <a:r>
                  <a:rPr lang="he-IL" sz="2800" dirty="0"/>
                  <a:t>יש מושג של מספרים קוונטריונים, זה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he-IL" sz="2800" dirty="0"/>
                  <a:t> </a:t>
                </a:r>
              </a:p>
              <a:p>
                <a:pPr marL="36900" indent="0" algn="r" rtl="1">
                  <a:buNone/>
                </a:pPr>
                <a:r>
                  <a:rPr lang="he-IL" sz="2800" dirty="0"/>
                  <a:t>כאשר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he-IL" sz="2800" dirty="0"/>
                  <a:t> וגם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he-IL" sz="2800" dirty="0"/>
                  <a:t>.</a:t>
                </a:r>
                <a:endParaRPr lang="en-US" sz="2800" dirty="0"/>
              </a:p>
              <a:p>
                <a:pPr algn="r" rtl="1"/>
                <a:r>
                  <a:rPr lang="he-IL" sz="2800" dirty="0"/>
                  <a:t>באותו אופן יש להם ייצוג גיאומטרי ואפשר לחבר ולהכפיל אותם.</a:t>
                </a:r>
              </a:p>
              <a:p>
                <a:pPr algn="r" rtl="1"/>
                <a:r>
                  <a:rPr lang="he-IL" sz="2800" dirty="0"/>
                  <a:t>האורך של מכפלה זה מכפלת האורכים, מכאן מקבלים זהות של אוילר </a:t>
                </a:r>
              </a:p>
              <a:p>
                <a:pPr marL="36900" indent="0" algn="r" rtl="1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/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/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/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/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he-IL" sz="2800" dirty="0"/>
              </a:p>
              <a:p>
                <a:pPr marL="36900" indent="0" algn="l">
                  <a:buNone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/>
                  <a:t> ,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800" dirty="0"/>
              </a:p>
              <a:p>
                <a:pPr marL="36900" indent="0" algn="l">
                  <a:buNone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/>
                  <a:t>  ,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IL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E5B8C4-CC7F-D8BA-3F44-81C7A85413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7000" y="1732449"/>
                <a:ext cx="11798300" cy="405875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2" descr="https://upload.wikimedia.org/wikipedia/commons/thumb/a/aa/Euler-USSR-1957-stamp.jpg/220px-Euler-USSR-1957-stamp.jpg">
            <a:extLst>
              <a:ext uri="{FF2B5EF4-FFF2-40B4-BE49-F238E27FC236}">
                <a16:creationId xmlns:a16="http://schemas.microsoft.com/office/drawing/2014/main" id="{4B6381E0-75FF-4B67-8AE7-7F72BC5C3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3573" y="1580050"/>
            <a:ext cx="2112188" cy="1516936"/>
          </a:xfrm>
          <a:prstGeom prst="rect">
            <a:avLst/>
          </a:prstGeom>
          <a:noFill/>
        </p:spPr>
      </p:pic>
      <p:sp>
        <p:nvSpPr>
          <p:cNvPr id="8" name="PB">
            <a:extLst>
              <a:ext uri="{FF2B5EF4-FFF2-40B4-BE49-F238E27FC236}">
                <a16:creationId xmlns:a16="http://schemas.microsoft.com/office/drawing/2014/main" id="{7FEF7012-D3F3-1099-4E37-4AEBEE312C49}"/>
              </a:ext>
            </a:extLst>
          </p:cNvPr>
          <p:cNvSpPr/>
          <p:nvPr/>
        </p:nvSpPr>
        <p:spPr>
          <a:xfrm>
            <a:off x="0" y="6705600"/>
            <a:ext cx="3483428" cy="152400"/>
          </a:xfrm>
          <a:prstGeom prst="rect">
            <a:avLst/>
          </a:prstGeom>
          <a:solidFill>
            <a:srgbClr val="7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66176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8B999-D417-33C1-8AD8-AA1606FE5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60CF6-70D3-9E83-5828-65E92812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30D73BF-EB01-D03E-FE74-72976F646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488" y="0"/>
            <a:ext cx="104870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B">
            <a:extLst>
              <a:ext uri="{FF2B5EF4-FFF2-40B4-BE49-F238E27FC236}">
                <a16:creationId xmlns:a16="http://schemas.microsoft.com/office/drawing/2014/main" id="{006DE635-4201-6312-2793-AE65CECC7711}"/>
              </a:ext>
            </a:extLst>
          </p:cNvPr>
          <p:cNvSpPr/>
          <p:nvPr/>
        </p:nvSpPr>
        <p:spPr>
          <a:xfrm>
            <a:off x="0" y="6705600"/>
            <a:ext cx="3918857" cy="152400"/>
          </a:xfrm>
          <a:prstGeom prst="rect">
            <a:avLst/>
          </a:prstGeom>
          <a:solidFill>
            <a:srgbClr val="7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53694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AAC2-8321-51D3-A0AE-A8E7E241E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רדוקציה לראשוניים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E5B8C4-CC7F-D8BA-3F44-81C7A85413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01095" y="1732449"/>
                <a:ext cx="10353762" cy="4058751"/>
              </a:xfrm>
            </p:spPr>
            <p:txBody>
              <a:bodyPr>
                <a:normAutofit/>
              </a:bodyPr>
              <a:lstStyle/>
              <a:p>
                <a:pPr algn="r" rtl="1"/>
                <a:r>
                  <a:rPr lang="he-IL" sz="2800" dirty="0"/>
                  <a:t>מכאן שמספיק להוכיח שכל מספר ראשוני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he-IL" sz="2800" dirty="0"/>
                  <a:t> הוא סכום של 4 ריבועים </a:t>
                </a:r>
                <a:r>
                  <a:rPr lang="he-IL" sz="2800" dirty="0">
                    <a:sym typeface="Wingdings" panose="05000000000000000000" pitchFamily="2" charset="2"/>
                  </a:rPr>
                  <a:t></a:t>
                </a:r>
                <a:endParaRPr lang="en-IL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E5B8C4-CC7F-D8BA-3F44-81C7A85413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01095" y="1732449"/>
                <a:ext cx="10353762" cy="405875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Euklid-von-Alexandria 1.jpg">
            <a:extLst>
              <a:ext uri="{FF2B5EF4-FFF2-40B4-BE49-F238E27FC236}">
                <a16:creationId xmlns:a16="http://schemas.microsoft.com/office/drawing/2014/main" id="{9E89E786-0220-0E99-6C76-B0419F7C73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43584" y="2832100"/>
            <a:ext cx="2128416" cy="2525075"/>
          </a:xfrm>
          <a:prstGeom prst="rect">
            <a:avLst/>
          </a:prstGeom>
          <a:noFill/>
        </p:spPr>
      </p:pic>
      <p:sp>
        <p:nvSpPr>
          <p:cNvPr id="6" name="PB">
            <a:extLst>
              <a:ext uri="{FF2B5EF4-FFF2-40B4-BE49-F238E27FC236}">
                <a16:creationId xmlns:a16="http://schemas.microsoft.com/office/drawing/2014/main" id="{FC006A79-5FB0-D454-BC2A-9B68F3D79BE6}"/>
              </a:ext>
            </a:extLst>
          </p:cNvPr>
          <p:cNvSpPr/>
          <p:nvPr/>
        </p:nvSpPr>
        <p:spPr>
          <a:xfrm>
            <a:off x="0" y="6705600"/>
            <a:ext cx="4354286" cy="152400"/>
          </a:xfrm>
          <a:prstGeom prst="rect">
            <a:avLst/>
          </a:prstGeom>
          <a:solidFill>
            <a:srgbClr val="7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03415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AAC2-8321-51D3-A0AE-A8E7E241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295" y="2044700"/>
            <a:ext cx="10353762" cy="970450"/>
          </a:xfrm>
        </p:spPr>
        <p:txBody>
          <a:bodyPr/>
          <a:lstStyle/>
          <a:p>
            <a:pPr rtl="1"/>
            <a:r>
              <a:rPr lang="he-IL" dirty="0"/>
              <a:t>ועכשיו למשהו שונה לגמרי</a:t>
            </a:r>
            <a:endParaRPr lang="en-IL" dirty="0"/>
          </a:p>
        </p:txBody>
      </p:sp>
      <p:pic>
        <p:nvPicPr>
          <p:cNvPr id="7" name="Picture 4" descr="Image result">
            <a:extLst>
              <a:ext uri="{FF2B5EF4-FFF2-40B4-BE49-F238E27FC236}">
                <a16:creationId xmlns:a16="http://schemas.microsoft.com/office/drawing/2014/main" id="{B28A3BAC-97A0-923F-4A9E-8D973BAB96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30587" t="8696" r="30087" b="43478"/>
          <a:stretch>
            <a:fillRect/>
          </a:stretch>
        </p:blipFill>
        <p:spPr bwMode="auto">
          <a:xfrm>
            <a:off x="5120640" y="3118755"/>
            <a:ext cx="1724567" cy="2107804"/>
          </a:xfrm>
          <a:prstGeom prst="rect">
            <a:avLst/>
          </a:prstGeom>
          <a:noFill/>
        </p:spPr>
      </p:pic>
      <p:sp>
        <p:nvSpPr>
          <p:cNvPr id="8" name="PB">
            <a:extLst>
              <a:ext uri="{FF2B5EF4-FFF2-40B4-BE49-F238E27FC236}">
                <a16:creationId xmlns:a16="http://schemas.microsoft.com/office/drawing/2014/main" id="{72E5BCF7-9C31-EE47-FF8E-A8F10A51C86A}"/>
              </a:ext>
            </a:extLst>
          </p:cNvPr>
          <p:cNvSpPr/>
          <p:nvPr/>
        </p:nvSpPr>
        <p:spPr>
          <a:xfrm>
            <a:off x="0" y="6705600"/>
            <a:ext cx="4789714" cy="152400"/>
          </a:xfrm>
          <a:prstGeom prst="rect">
            <a:avLst/>
          </a:prstGeom>
          <a:solidFill>
            <a:srgbClr val="7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55324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AAC2-8321-51D3-A0AE-A8E7E241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22300"/>
            <a:ext cx="10353762" cy="970450"/>
          </a:xfrm>
        </p:spPr>
        <p:txBody>
          <a:bodyPr/>
          <a:lstStyle/>
          <a:p>
            <a:pPr algn="r" rtl="1"/>
            <a:r>
              <a:rPr lang="he-IL" dirty="0"/>
              <a:t>עיקרון שובך היונים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E5B8C4-CC7F-D8BA-3F44-81C7A85413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r" rtl="1"/>
                <a:r>
                  <a:rPr lang="he-IL" sz="2800" dirty="0"/>
                  <a:t>אם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he-IL" sz="2800" dirty="0"/>
                  <a:t> יונים נכנסות ל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he-IL" sz="2800" dirty="0"/>
                  <a:t> שבכים, יהיו לפחות שתי יונים שנכנסו לאותו שובך.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E5B8C4-CC7F-D8BA-3F44-81C7A85413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11" descr="Image result for geometric pigeonhole principle,e">
            <a:extLst>
              <a:ext uri="{FF2B5EF4-FFF2-40B4-BE49-F238E27FC236}">
                <a16:creationId xmlns:a16="http://schemas.microsoft.com/office/drawing/2014/main" id="{689ECAB2-F9C1-2352-57F7-FC8FBBBA9A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90444" y="3140968"/>
            <a:ext cx="3478258" cy="1728192"/>
          </a:xfrm>
          <a:prstGeom prst="rect">
            <a:avLst/>
          </a:prstGeom>
          <a:noFill/>
        </p:spPr>
      </p:pic>
      <p:sp>
        <p:nvSpPr>
          <p:cNvPr id="6" name="PB">
            <a:extLst>
              <a:ext uri="{FF2B5EF4-FFF2-40B4-BE49-F238E27FC236}">
                <a16:creationId xmlns:a16="http://schemas.microsoft.com/office/drawing/2014/main" id="{B9215DDE-81F8-A507-91C3-610FCB107DC9}"/>
              </a:ext>
            </a:extLst>
          </p:cNvPr>
          <p:cNvSpPr/>
          <p:nvPr/>
        </p:nvSpPr>
        <p:spPr>
          <a:xfrm>
            <a:off x="0" y="6705600"/>
            <a:ext cx="5225143" cy="152400"/>
          </a:xfrm>
          <a:prstGeom prst="rect">
            <a:avLst/>
          </a:prstGeom>
          <a:solidFill>
            <a:srgbClr val="7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09813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AAC2-8321-51D3-A0AE-A8E7E241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22300"/>
            <a:ext cx="10353762" cy="970450"/>
          </a:xfrm>
        </p:spPr>
        <p:txBody>
          <a:bodyPr/>
          <a:lstStyle/>
          <a:p>
            <a:pPr algn="r" rtl="1"/>
            <a:r>
              <a:rPr lang="he-IL" dirty="0"/>
              <a:t>שובך גיאומטרי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5B8C4-CC7F-D8BA-3F44-81C7A8541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sz="2800" dirty="0"/>
              <a:t>נתון אוסף קבוצות בריבוע בשטח 1 שסכום שטחיהן גדול </a:t>
            </a:r>
          </a:p>
          <a:p>
            <a:pPr algn="r" rtl="1">
              <a:buNone/>
            </a:pPr>
            <a:r>
              <a:rPr lang="he-IL" sz="2800" dirty="0"/>
              <a:t>   מ 1, אז יש שתי קבוצות מהאוסף שנחתכות.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645AA77-92B8-C72C-B196-7437A0AEB383}"/>
              </a:ext>
            </a:extLst>
          </p:cNvPr>
          <p:cNvGrpSpPr/>
          <p:nvPr/>
        </p:nvGrpSpPr>
        <p:grpSpPr>
          <a:xfrm>
            <a:off x="1773064" y="3702968"/>
            <a:ext cx="2304256" cy="2088232"/>
            <a:chOff x="3347864" y="3573016"/>
            <a:chExt cx="2304256" cy="208823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A157C9C-D4FD-4966-CEF8-2C6C294C9224}"/>
                </a:ext>
              </a:extLst>
            </p:cNvPr>
            <p:cNvSpPr/>
            <p:nvPr/>
          </p:nvSpPr>
          <p:spPr>
            <a:xfrm>
              <a:off x="3347864" y="3573016"/>
              <a:ext cx="2304256" cy="20882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2227961E-5E9C-6736-459B-5B75EF5E12B1}"/>
                </a:ext>
              </a:extLst>
            </p:cNvPr>
            <p:cNvSpPr/>
            <p:nvPr/>
          </p:nvSpPr>
          <p:spPr>
            <a:xfrm>
              <a:off x="4013200" y="3907118"/>
              <a:ext cx="1374588" cy="1534458"/>
            </a:xfrm>
            <a:custGeom>
              <a:avLst/>
              <a:gdLst>
                <a:gd name="connsiteX0" fmla="*/ 612588 w 1374588"/>
                <a:gd name="connsiteY0" fmla="*/ 82176 h 1534458"/>
                <a:gd name="connsiteX1" fmla="*/ 1284941 w 1374588"/>
                <a:gd name="connsiteY1" fmla="*/ 1140011 h 1534458"/>
                <a:gd name="connsiteX2" fmla="*/ 74706 w 1374588"/>
                <a:gd name="connsiteY2" fmla="*/ 1444811 h 1534458"/>
                <a:gd name="connsiteX3" fmla="*/ 836706 w 1374588"/>
                <a:gd name="connsiteY3" fmla="*/ 602129 h 1534458"/>
                <a:gd name="connsiteX4" fmla="*/ 182282 w 1374588"/>
                <a:gd name="connsiteY4" fmla="*/ 646953 h 1534458"/>
                <a:gd name="connsiteX5" fmla="*/ 612588 w 1374588"/>
                <a:gd name="connsiteY5" fmla="*/ 82176 h 153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4588" h="1534458">
                  <a:moveTo>
                    <a:pt x="612588" y="82176"/>
                  </a:moveTo>
                  <a:cubicBezTo>
                    <a:pt x="796364" y="164352"/>
                    <a:pt x="1374588" y="912905"/>
                    <a:pt x="1284941" y="1140011"/>
                  </a:cubicBezTo>
                  <a:cubicBezTo>
                    <a:pt x="1195294" y="1367117"/>
                    <a:pt x="149412" y="1534458"/>
                    <a:pt x="74706" y="1444811"/>
                  </a:cubicBezTo>
                  <a:cubicBezTo>
                    <a:pt x="0" y="1355164"/>
                    <a:pt x="818777" y="735105"/>
                    <a:pt x="836706" y="602129"/>
                  </a:cubicBezTo>
                  <a:cubicBezTo>
                    <a:pt x="854635" y="469153"/>
                    <a:pt x="224117" y="730623"/>
                    <a:pt x="182282" y="646953"/>
                  </a:cubicBezTo>
                  <a:cubicBezTo>
                    <a:pt x="140447" y="563283"/>
                    <a:pt x="428812" y="0"/>
                    <a:pt x="612588" y="82176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3CB2D79B-79DF-A380-79C2-E63DC1199B72}"/>
                </a:ext>
              </a:extLst>
            </p:cNvPr>
            <p:cNvSpPr/>
            <p:nvPr/>
          </p:nvSpPr>
          <p:spPr>
            <a:xfrm>
              <a:off x="3464859" y="4353859"/>
              <a:ext cx="794871" cy="847164"/>
            </a:xfrm>
            <a:custGeom>
              <a:avLst/>
              <a:gdLst>
                <a:gd name="connsiteX0" fmla="*/ 210670 w 794871"/>
                <a:gd name="connsiteY0" fmla="*/ 782917 h 847164"/>
                <a:gd name="connsiteX1" fmla="*/ 94129 w 794871"/>
                <a:gd name="connsiteY1" fmla="*/ 56776 h 847164"/>
                <a:gd name="connsiteX2" fmla="*/ 775447 w 794871"/>
                <a:gd name="connsiteY2" fmla="*/ 442259 h 847164"/>
                <a:gd name="connsiteX3" fmla="*/ 210670 w 794871"/>
                <a:gd name="connsiteY3" fmla="*/ 782917 h 847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4871" h="847164">
                  <a:moveTo>
                    <a:pt x="210670" y="782917"/>
                  </a:moveTo>
                  <a:cubicBezTo>
                    <a:pt x="97117" y="718670"/>
                    <a:pt x="0" y="113552"/>
                    <a:pt x="94129" y="56776"/>
                  </a:cubicBezTo>
                  <a:cubicBezTo>
                    <a:pt x="188259" y="0"/>
                    <a:pt x="756024" y="319741"/>
                    <a:pt x="775447" y="442259"/>
                  </a:cubicBezTo>
                  <a:cubicBezTo>
                    <a:pt x="794871" y="564777"/>
                    <a:pt x="324223" y="847164"/>
                    <a:pt x="210670" y="782917"/>
                  </a:cubicBezTo>
                  <a:close/>
                </a:path>
              </a:pathLst>
            </a:cu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9732555C-2AB7-CE87-07D4-9C123BDC758D}"/>
                </a:ext>
              </a:extLst>
            </p:cNvPr>
            <p:cNvSpPr/>
            <p:nvPr/>
          </p:nvSpPr>
          <p:spPr>
            <a:xfrm>
              <a:off x="3496235" y="3671047"/>
              <a:ext cx="954741" cy="524436"/>
            </a:xfrm>
            <a:custGeom>
              <a:avLst/>
              <a:gdLst>
                <a:gd name="connsiteX0" fmla="*/ 125506 w 954741"/>
                <a:gd name="connsiteY0" fmla="*/ 58271 h 524436"/>
                <a:gd name="connsiteX1" fmla="*/ 887506 w 954741"/>
                <a:gd name="connsiteY1" fmla="*/ 76200 h 524436"/>
                <a:gd name="connsiteX2" fmla="*/ 528918 w 954741"/>
                <a:gd name="connsiteY2" fmla="*/ 515471 h 524436"/>
                <a:gd name="connsiteX3" fmla="*/ 134471 w 954741"/>
                <a:gd name="connsiteY3" fmla="*/ 129988 h 524436"/>
                <a:gd name="connsiteX4" fmla="*/ 125506 w 954741"/>
                <a:gd name="connsiteY4" fmla="*/ 58271 h 524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4741" h="524436">
                  <a:moveTo>
                    <a:pt x="125506" y="58271"/>
                  </a:moveTo>
                  <a:cubicBezTo>
                    <a:pt x="251012" y="49306"/>
                    <a:pt x="820271" y="0"/>
                    <a:pt x="887506" y="76200"/>
                  </a:cubicBezTo>
                  <a:cubicBezTo>
                    <a:pt x="954741" y="152400"/>
                    <a:pt x="654424" y="506506"/>
                    <a:pt x="528918" y="515471"/>
                  </a:cubicBezTo>
                  <a:cubicBezTo>
                    <a:pt x="403412" y="524436"/>
                    <a:pt x="200212" y="201706"/>
                    <a:pt x="134471" y="129988"/>
                  </a:cubicBezTo>
                  <a:cubicBezTo>
                    <a:pt x="68730" y="58270"/>
                    <a:pt x="0" y="67236"/>
                    <a:pt x="125506" y="58271"/>
                  </a:cubicBezTo>
                  <a:close/>
                </a:path>
              </a:pathLst>
            </a:cu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sp>
        <p:nvSpPr>
          <p:cNvPr id="12" name="PB">
            <a:extLst>
              <a:ext uri="{FF2B5EF4-FFF2-40B4-BE49-F238E27FC236}">
                <a16:creationId xmlns:a16="http://schemas.microsoft.com/office/drawing/2014/main" id="{F0CAD975-8777-FC97-FA55-EB7B9A270E1D}"/>
              </a:ext>
            </a:extLst>
          </p:cNvPr>
          <p:cNvSpPr/>
          <p:nvPr/>
        </p:nvSpPr>
        <p:spPr>
          <a:xfrm>
            <a:off x="0" y="6705600"/>
            <a:ext cx="5660572" cy="152400"/>
          </a:xfrm>
          <a:prstGeom prst="rect">
            <a:avLst/>
          </a:prstGeom>
          <a:solidFill>
            <a:srgbClr val="7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33524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AAC2-8321-51D3-A0AE-A8E7E241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22300"/>
            <a:ext cx="10353762" cy="970450"/>
          </a:xfrm>
        </p:spPr>
        <p:txBody>
          <a:bodyPr/>
          <a:lstStyle/>
          <a:p>
            <a:pPr algn="r" rtl="1"/>
            <a:r>
              <a:rPr lang="he-IL" dirty="0"/>
              <a:t>למת בליכשפלט </a:t>
            </a:r>
            <a:r>
              <a:rPr lang="he-IL" sz="3200" dirty="0"/>
              <a:t>(</a:t>
            </a:r>
            <a:r>
              <a:rPr lang="en-US" sz="3200" dirty="0" err="1"/>
              <a:t>Blichfeldt</a:t>
            </a:r>
            <a:r>
              <a:rPr lang="en-US" sz="3200" dirty="0"/>
              <a:t> 1914</a:t>
            </a:r>
            <a:r>
              <a:rPr lang="he-IL" sz="3200" dirty="0"/>
              <a:t>)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5B8C4-CC7F-D8BA-3F44-81C7A8541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592750"/>
            <a:ext cx="10353762" cy="4058751"/>
          </a:xfrm>
        </p:spPr>
        <p:txBody>
          <a:bodyPr>
            <a:normAutofit/>
          </a:bodyPr>
          <a:lstStyle/>
          <a:p>
            <a:pPr algn="r" rtl="1"/>
            <a:r>
              <a:rPr lang="he-IL" sz="2800" dirty="0"/>
              <a:t>מסקנה: קבוצה במישור משטח גדול מ</a:t>
            </a:r>
            <a:r>
              <a:rPr lang="en-US" sz="2800" dirty="0"/>
              <a:t>1 </a:t>
            </a:r>
            <a:r>
              <a:rPr lang="he-IL" sz="2800" dirty="0"/>
              <a:t>. אז יש בקבוצה שתי נקודות שונות שהפרשן הוא וקטור שלם. </a:t>
            </a:r>
            <a:endParaRPr lang="he-IL" sz="2400" dirty="0"/>
          </a:p>
          <a:p>
            <a:pPr algn="r" rtl="1"/>
            <a:r>
              <a:rPr lang="he-IL" sz="2800" dirty="0"/>
              <a:t>הוכחה:</a:t>
            </a:r>
          </a:p>
          <a:p>
            <a:pPr algn="r" rtl="1"/>
            <a:endParaRPr lang="he-IL" sz="2800" dirty="0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202F5184-294A-8117-DCFD-F823E17B74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58586" t="27040" r="21185" b="48718"/>
          <a:stretch>
            <a:fillRect/>
          </a:stretch>
        </p:blipFill>
        <p:spPr bwMode="auto">
          <a:xfrm>
            <a:off x="-10648" y="2810335"/>
            <a:ext cx="4326318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44F263D1-4146-8611-0390-A4CBBD76F3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58586" t="56523" r="21185" b="19890"/>
          <a:stretch>
            <a:fillRect/>
          </a:stretch>
        </p:blipFill>
        <p:spPr bwMode="auto">
          <a:xfrm>
            <a:off x="4443217" y="2817027"/>
            <a:ext cx="4332481" cy="273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06ECF1-E038-093B-A4F7-DCA80296DCAD}"/>
              </a:ext>
            </a:extLst>
          </p:cNvPr>
          <p:cNvSpPr txBox="1"/>
          <p:nvPr/>
        </p:nvSpPr>
        <p:spPr>
          <a:xfrm>
            <a:off x="8697686" y="3116282"/>
            <a:ext cx="354650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125" indent="-185738" algn="r" rtl="1">
              <a:buNone/>
            </a:pPr>
            <a:r>
              <a:rPr lang="he-IL" sz="28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נפרק את הקבוצה לחתיכות לפי חלקי הקבוצה בכל משבצת. </a:t>
            </a:r>
          </a:p>
          <a:p>
            <a:pPr marL="365125" indent="-185738" algn="r" rtl="1">
              <a:buNone/>
            </a:pPr>
            <a:r>
              <a:rPr lang="he-IL" sz="28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נזיז את החלקים בצורה מקבילה למשבצת משותפת ונפעיל שובך גיאומטרי.</a:t>
            </a:r>
          </a:p>
        </p:txBody>
      </p:sp>
      <p:sp>
        <p:nvSpPr>
          <p:cNvPr id="9" name="PB">
            <a:extLst>
              <a:ext uri="{FF2B5EF4-FFF2-40B4-BE49-F238E27FC236}">
                <a16:creationId xmlns:a16="http://schemas.microsoft.com/office/drawing/2014/main" id="{C0BAFE6C-1B24-20DF-7DDC-B25057336FEE}"/>
              </a:ext>
            </a:extLst>
          </p:cNvPr>
          <p:cNvSpPr/>
          <p:nvPr/>
        </p:nvSpPr>
        <p:spPr>
          <a:xfrm>
            <a:off x="0" y="6705600"/>
            <a:ext cx="6096000" cy="152400"/>
          </a:xfrm>
          <a:prstGeom prst="rect">
            <a:avLst/>
          </a:prstGeom>
          <a:solidFill>
            <a:srgbClr val="7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73258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AAC2-8321-51D3-A0AE-A8E7E241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22300"/>
            <a:ext cx="10353762" cy="970450"/>
          </a:xfrm>
        </p:spPr>
        <p:txBody>
          <a:bodyPr/>
          <a:lstStyle/>
          <a:p>
            <a:pPr algn="r" rtl="1"/>
            <a:r>
              <a:rPr lang="he-IL" dirty="0"/>
              <a:t>קבוצות קמורות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E5B8C4-CC7F-D8BA-3F44-81C7A85413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r" rtl="1"/>
                <a:r>
                  <a:rPr lang="he-IL" sz="2800" dirty="0"/>
                  <a:t>הגדרה:</a:t>
                </a:r>
                <a:r>
                  <a:rPr lang="en-US" sz="2800" dirty="0"/>
                  <a:t> </a:t>
                </a:r>
                <a:r>
                  <a:rPr lang="he-IL" sz="2800" dirty="0"/>
                  <a:t>קבוצה נקראת </a:t>
                </a:r>
                <a:r>
                  <a:rPr lang="he-IL" sz="2800" b="1" dirty="0"/>
                  <a:t>קמורה</a:t>
                </a:r>
                <a:r>
                  <a:rPr lang="he-IL" sz="2800" dirty="0"/>
                  <a:t> אם לכל שתי נקודות בקבוצה, הקטע בינהן מוכל בקבוצה.</a:t>
                </a:r>
              </a:p>
              <a:p>
                <a:pPr marL="36900" indent="0" algn="r" rtl="1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groupChr>
                        <m:groupChrPr>
                          <m:chr m:val="⇒"/>
                          <m:pos m:val="bot"/>
                          <m:vertJc m:val="bot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𝑎𝑙𝑙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he-IL" sz="2800" dirty="0"/>
              </a:p>
              <a:p>
                <a:pPr algn="r" rtl="1"/>
                <a:r>
                  <a:rPr lang="he-IL" sz="2800" dirty="0"/>
                  <a:t>קבוצה סמטרית (ביחס לראשית)</a:t>
                </a:r>
              </a:p>
              <a:p>
                <a:pPr marL="36900" indent="0" algn="r" rtl="1">
                  <a:buNone/>
                </a:pPr>
                <a:r>
                  <a:rPr lang="he-IL" sz="280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groupChr>
                      <m:groupChrPr>
                        <m:chr m:val="⇒"/>
                        <m:pos m:val="bot"/>
                        <m:vertJc m:val="bot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/>
                    </m:groupCh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he-IL" sz="2800" dirty="0"/>
                  <a:t> .</a:t>
                </a:r>
              </a:p>
              <a:p>
                <a:pPr marL="36900" indent="0" algn="r" rtl="1">
                  <a:buNone/>
                </a:pPr>
                <a:endParaRPr lang="he-IL" sz="28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E5B8C4-CC7F-D8BA-3F44-81C7A85413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8" descr="https://upload.wikimedia.org/wikipedia/commons/thumb/6/6b/Convex_polygon_illustration1.svg/120px-Convex_polygon_illustration1.svg.png">
            <a:extLst>
              <a:ext uri="{FF2B5EF4-FFF2-40B4-BE49-F238E27FC236}">
                <a16:creationId xmlns:a16="http://schemas.microsoft.com/office/drawing/2014/main" id="{FA5EF327-9B5C-AF6E-E307-4D1DB72242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33239" y="3429000"/>
            <a:ext cx="1919444" cy="1807477"/>
          </a:xfrm>
          <a:prstGeom prst="rect">
            <a:avLst/>
          </a:prstGeom>
          <a:noFill/>
        </p:spPr>
      </p:pic>
      <p:pic>
        <p:nvPicPr>
          <p:cNvPr id="7" name="Picture 10" descr="https://upload.wikimedia.org/wikipedia/commons/thumb/6/6c/Convex_polygon_illustration2.svg/120px-Convex_polygon_illustration2.svg.png">
            <a:extLst>
              <a:ext uri="{FF2B5EF4-FFF2-40B4-BE49-F238E27FC236}">
                <a16:creationId xmlns:a16="http://schemas.microsoft.com/office/drawing/2014/main" id="{53B1BED9-7501-7E61-B6EE-AAB73E0C9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3203" y="3308583"/>
            <a:ext cx="1919444" cy="1807478"/>
          </a:xfrm>
          <a:prstGeom prst="rect">
            <a:avLst/>
          </a:prstGeom>
          <a:noFill/>
        </p:spPr>
      </p:pic>
      <p:sp>
        <p:nvSpPr>
          <p:cNvPr id="8" name="PB">
            <a:extLst>
              <a:ext uri="{FF2B5EF4-FFF2-40B4-BE49-F238E27FC236}">
                <a16:creationId xmlns:a16="http://schemas.microsoft.com/office/drawing/2014/main" id="{F37DF7C9-9D4E-3735-22D2-226B292E1C4B}"/>
              </a:ext>
            </a:extLst>
          </p:cNvPr>
          <p:cNvSpPr/>
          <p:nvPr/>
        </p:nvSpPr>
        <p:spPr>
          <a:xfrm>
            <a:off x="0" y="6705600"/>
            <a:ext cx="6531428" cy="152400"/>
          </a:xfrm>
          <a:prstGeom prst="rect">
            <a:avLst/>
          </a:prstGeom>
          <a:solidFill>
            <a:srgbClr val="7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45540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AAC2-8321-51D3-A0AE-A8E7E241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22300"/>
            <a:ext cx="10353762" cy="970450"/>
          </a:xfrm>
        </p:spPr>
        <p:txBody>
          <a:bodyPr/>
          <a:lstStyle/>
          <a:p>
            <a:pPr algn="r" rtl="1"/>
            <a:r>
              <a:rPr lang="he-IL" dirty="0"/>
              <a:t>הלמה של מינקובסקי</a:t>
            </a:r>
            <a:r>
              <a:rPr lang="en-US" dirty="0"/>
              <a:t> </a:t>
            </a:r>
            <a:r>
              <a:rPr lang="he-IL" sz="3200" dirty="0"/>
              <a:t>(1889)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5B8C4-CC7F-D8BA-3F44-81C7A8541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sz="2800" dirty="0"/>
              <a:t>הלמה: קבוצה קמורה וסימטרית בעלת שטח גדול מ-4 מכילה נקודה שלמה שאינה הראשית.</a:t>
            </a:r>
          </a:p>
          <a:p>
            <a:pPr algn="r" rtl="1"/>
            <a:r>
              <a:rPr lang="he-IL" sz="2800" dirty="0"/>
              <a:t>הוכחה:</a:t>
            </a:r>
          </a:p>
          <a:p>
            <a:pPr algn="r" rtl="1"/>
            <a:endParaRPr lang="he-IL" sz="2800" dirty="0"/>
          </a:p>
        </p:txBody>
      </p:sp>
      <p:sp>
        <p:nvSpPr>
          <p:cNvPr id="25" name="Freeform 60">
            <a:extLst>
              <a:ext uri="{FF2B5EF4-FFF2-40B4-BE49-F238E27FC236}">
                <a16:creationId xmlns:a16="http://schemas.microsoft.com/office/drawing/2014/main" id="{D90C0BF7-1AFE-050C-DF73-8BE3CDD5281E}"/>
              </a:ext>
            </a:extLst>
          </p:cNvPr>
          <p:cNvSpPr/>
          <p:nvPr/>
        </p:nvSpPr>
        <p:spPr>
          <a:xfrm>
            <a:off x="5796136" y="4509120"/>
            <a:ext cx="1599819" cy="1512168"/>
          </a:xfrm>
          <a:custGeom>
            <a:avLst/>
            <a:gdLst>
              <a:gd name="connsiteX0" fmla="*/ 1059611 w 2679939"/>
              <a:gd name="connsiteY0" fmla="*/ 2096219 h 2202611"/>
              <a:gd name="connsiteX1" fmla="*/ 300486 w 2679939"/>
              <a:gd name="connsiteY1" fmla="*/ 1984075 h 2202611"/>
              <a:gd name="connsiteX2" fmla="*/ 274607 w 2679939"/>
              <a:gd name="connsiteY2" fmla="*/ 785003 h 2202611"/>
              <a:gd name="connsiteX3" fmla="*/ 1948131 w 2679939"/>
              <a:gd name="connsiteY3" fmla="*/ 103517 h 2202611"/>
              <a:gd name="connsiteX4" fmla="*/ 2534728 w 2679939"/>
              <a:gd name="connsiteY4" fmla="*/ 1406105 h 2202611"/>
              <a:gd name="connsiteX5" fmla="*/ 1059611 w 2679939"/>
              <a:gd name="connsiteY5" fmla="*/ 2096219 h 2202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79939" h="2202611">
                <a:moveTo>
                  <a:pt x="1059611" y="2096219"/>
                </a:moveTo>
                <a:cubicBezTo>
                  <a:pt x="687237" y="2192547"/>
                  <a:pt x="431320" y="2202611"/>
                  <a:pt x="300486" y="1984075"/>
                </a:cubicBezTo>
                <a:cubicBezTo>
                  <a:pt x="169652" y="1765539"/>
                  <a:pt x="0" y="1098429"/>
                  <a:pt x="274607" y="785003"/>
                </a:cubicBezTo>
                <a:cubicBezTo>
                  <a:pt x="549214" y="471577"/>
                  <a:pt x="1571444" y="0"/>
                  <a:pt x="1948131" y="103517"/>
                </a:cubicBezTo>
                <a:cubicBezTo>
                  <a:pt x="2324818" y="207034"/>
                  <a:pt x="2679939" y="1073988"/>
                  <a:pt x="2534728" y="1406105"/>
                </a:cubicBezTo>
                <a:cubicBezTo>
                  <a:pt x="2389517" y="1738222"/>
                  <a:pt x="1431985" y="1999891"/>
                  <a:pt x="1059611" y="2096219"/>
                </a:cubicBezTo>
                <a:close/>
              </a:path>
            </a:pathLst>
          </a:cu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6" name="Flowchart: Summing Junction 25">
            <a:extLst>
              <a:ext uri="{FF2B5EF4-FFF2-40B4-BE49-F238E27FC236}">
                <a16:creationId xmlns:a16="http://schemas.microsoft.com/office/drawing/2014/main" id="{886260E4-6EB2-B2C3-B9E6-237F6FF1D9AD}"/>
              </a:ext>
            </a:extLst>
          </p:cNvPr>
          <p:cNvSpPr/>
          <p:nvPr/>
        </p:nvSpPr>
        <p:spPr>
          <a:xfrm>
            <a:off x="6156176" y="5661248"/>
            <a:ext cx="144016" cy="144016"/>
          </a:xfrm>
          <a:prstGeom prst="flowChartSummingJunctio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FE58213-2FE3-F61D-DACE-B9257479F656}"/>
              </a:ext>
            </a:extLst>
          </p:cNvPr>
          <p:cNvCxnSpPr/>
          <p:nvPr/>
        </p:nvCxnSpPr>
        <p:spPr>
          <a:xfrm>
            <a:off x="6516216" y="5373216"/>
            <a:ext cx="208823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7CA99A7-A3BB-71D4-12C8-5600FCD63D5F}"/>
              </a:ext>
            </a:extLst>
          </p:cNvPr>
          <p:cNvCxnSpPr/>
          <p:nvPr/>
        </p:nvCxnSpPr>
        <p:spPr>
          <a:xfrm flipV="1">
            <a:off x="6516216" y="3573016"/>
            <a:ext cx="0" cy="1800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cxnSp>
      <p:sp>
        <p:nvSpPr>
          <p:cNvPr id="29" name="Flowchart: Summing Junction 28">
            <a:extLst>
              <a:ext uri="{FF2B5EF4-FFF2-40B4-BE49-F238E27FC236}">
                <a16:creationId xmlns:a16="http://schemas.microsoft.com/office/drawing/2014/main" id="{86858C93-8556-BD54-3D20-416AE65F808B}"/>
              </a:ext>
            </a:extLst>
          </p:cNvPr>
          <p:cNvSpPr/>
          <p:nvPr/>
        </p:nvSpPr>
        <p:spPr>
          <a:xfrm>
            <a:off x="6876256" y="5445224"/>
            <a:ext cx="144016" cy="144016"/>
          </a:xfrm>
          <a:prstGeom prst="flowChartSummingJunctio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30" name="Picture 24">
            <a:extLst>
              <a:ext uri="{FF2B5EF4-FFF2-40B4-BE49-F238E27FC236}">
                <a16:creationId xmlns:a16="http://schemas.microsoft.com/office/drawing/2014/main" id="{A228F3BB-CC98-8DEB-7007-62325157C9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8705" r="54622"/>
          <a:stretch>
            <a:fillRect/>
          </a:stretch>
        </p:blipFill>
        <p:spPr bwMode="auto">
          <a:xfrm>
            <a:off x="6084168" y="5877272"/>
            <a:ext cx="288032" cy="40324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pic>
      <p:pic>
        <p:nvPicPr>
          <p:cNvPr id="31" name="Picture 24">
            <a:extLst>
              <a:ext uri="{FF2B5EF4-FFF2-40B4-BE49-F238E27FC236}">
                <a16:creationId xmlns:a16="http://schemas.microsoft.com/office/drawing/2014/main" id="{419D5DF5-A912-8217-29E8-AD27ADFB3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382" r="43945"/>
          <a:stretch>
            <a:fillRect/>
          </a:stretch>
        </p:blipFill>
        <p:spPr bwMode="auto">
          <a:xfrm>
            <a:off x="6876256" y="5661248"/>
            <a:ext cx="257171" cy="36004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pic>
      <p:sp>
        <p:nvSpPr>
          <p:cNvPr id="32" name="Freeform 48">
            <a:extLst>
              <a:ext uri="{FF2B5EF4-FFF2-40B4-BE49-F238E27FC236}">
                <a16:creationId xmlns:a16="http://schemas.microsoft.com/office/drawing/2014/main" id="{D63F8551-807C-82B7-7682-366130986B3A}"/>
              </a:ext>
            </a:extLst>
          </p:cNvPr>
          <p:cNvSpPr/>
          <p:nvPr/>
        </p:nvSpPr>
        <p:spPr>
          <a:xfrm>
            <a:off x="899592" y="3861048"/>
            <a:ext cx="2679939" cy="2202611"/>
          </a:xfrm>
          <a:custGeom>
            <a:avLst/>
            <a:gdLst>
              <a:gd name="connsiteX0" fmla="*/ 1059611 w 2679939"/>
              <a:gd name="connsiteY0" fmla="*/ 2096219 h 2202611"/>
              <a:gd name="connsiteX1" fmla="*/ 300486 w 2679939"/>
              <a:gd name="connsiteY1" fmla="*/ 1984075 h 2202611"/>
              <a:gd name="connsiteX2" fmla="*/ 274607 w 2679939"/>
              <a:gd name="connsiteY2" fmla="*/ 785003 h 2202611"/>
              <a:gd name="connsiteX3" fmla="*/ 1948131 w 2679939"/>
              <a:gd name="connsiteY3" fmla="*/ 103517 h 2202611"/>
              <a:gd name="connsiteX4" fmla="*/ 2534728 w 2679939"/>
              <a:gd name="connsiteY4" fmla="*/ 1406105 h 2202611"/>
              <a:gd name="connsiteX5" fmla="*/ 1059611 w 2679939"/>
              <a:gd name="connsiteY5" fmla="*/ 2096219 h 2202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79939" h="2202611">
                <a:moveTo>
                  <a:pt x="1059611" y="2096219"/>
                </a:moveTo>
                <a:cubicBezTo>
                  <a:pt x="687237" y="2192547"/>
                  <a:pt x="431320" y="2202611"/>
                  <a:pt x="300486" y="1984075"/>
                </a:cubicBezTo>
                <a:cubicBezTo>
                  <a:pt x="169652" y="1765539"/>
                  <a:pt x="0" y="1098429"/>
                  <a:pt x="274607" y="785003"/>
                </a:cubicBezTo>
                <a:cubicBezTo>
                  <a:pt x="549214" y="471577"/>
                  <a:pt x="1571444" y="0"/>
                  <a:pt x="1948131" y="103517"/>
                </a:cubicBezTo>
                <a:cubicBezTo>
                  <a:pt x="2324818" y="207034"/>
                  <a:pt x="2679939" y="1073988"/>
                  <a:pt x="2534728" y="1406105"/>
                </a:cubicBezTo>
                <a:cubicBezTo>
                  <a:pt x="2389517" y="1738222"/>
                  <a:pt x="1431985" y="1999891"/>
                  <a:pt x="1059611" y="2096219"/>
                </a:cubicBezTo>
                <a:close/>
              </a:path>
            </a:pathLst>
          </a:cu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53C64F8-160A-C9BC-896E-8877A37F1879}"/>
              </a:ext>
            </a:extLst>
          </p:cNvPr>
          <p:cNvSpPr txBox="1"/>
          <p:nvPr/>
        </p:nvSpPr>
        <p:spPr>
          <a:xfrm>
            <a:off x="1547664" y="5589240"/>
            <a:ext cx="288032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en-US" sz="1400" dirty="0"/>
              <a:t>p</a:t>
            </a:r>
            <a:endParaRPr lang="he-IL" sz="1400" dirty="0"/>
          </a:p>
        </p:txBody>
      </p:sp>
      <p:sp>
        <p:nvSpPr>
          <p:cNvPr id="34" name="Flowchart: Summing Junction 33">
            <a:extLst>
              <a:ext uri="{FF2B5EF4-FFF2-40B4-BE49-F238E27FC236}">
                <a16:creationId xmlns:a16="http://schemas.microsoft.com/office/drawing/2014/main" id="{A17F0B6F-061A-9A75-8EB1-E03662F95245}"/>
              </a:ext>
            </a:extLst>
          </p:cNvPr>
          <p:cNvSpPr/>
          <p:nvPr/>
        </p:nvSpPr>
        <p:spPr>
          <a:xfrm>
            <a:off x="1691680" y="5517232"/>
            <a:ext cx="144016" cy="144016"/>
          </a:xfrm>
          <a:prstGeom prst="flowChartSummingJunctio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5" name="Flowchart: Summing Junction 34">
            <a:extLst>
              <a:ext uri="{FF2B5EF4-FFF2-40B4-BE49-F238E27FC236}">
                <a16:creationId xmlns:a16="http://schemas.microsoft.com/office/drawing/2014/main" id="{CFF4495F-7126-4EFE-6814-581AAA892682}"/>
              </a:ext>
            </a:extLst>
          </p:cNvPr>
          <p:cNvSpPr/>
          <p:nvPr/>
        </p:nvSpPr>
        <p:spPr>
          <a:xfrm>
            <a:off x="2843808" y="5229200"/>
            <a:ext cx="144016" cy="144016"/>
          </a:xfrm>
          <a:prstGeom prst="flowChartSummingJunctio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2EA6DFA-F187-958C-2B5F-D5E986F30EB9}"/>
              </a:ext>
            </a:extLst>
          </p:cNvPr>
          <p:cNvCxnSpPr/>
          <p:nvPr/>
        </p:nvCxnSpPr>
        <p:spPr>
          <a:xfrm>
            <a:off x="2195736" y="5085184"/>
            <a:ext cx="208823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948F1C5-6AE4-D29B-216D-354405D9BEB8}"/>
              </a:ext>
            </a:extLst>
          </p:cNvPr>
          <p:cNvCxnSpPr/>
          <p:nvPr/>
        </p:nvCxnSpPr>
        <p:spPr>
          <a:xfrm flipV="1">
            <a:off x="2195736" y="3284984"/>
            <a:ext cx="0" cy="1800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A14EB31-CDDB-0738-3E65-6FC45E5B869B}"/>
              </a:ext>
            </a:extLst>
          </p:cNvPr>
          <p:cNvSpPr txBox="1"/>
          <p:nvPr/>
        </p:nvSpPr>
        <p:spPr>
          <a:xfrm>
            <a:off x="2771800" y="5373216"/>
            <a:ext cx="288032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en-US" sz="1400" dirty="0"/>
              <a:t>r</a:t>
            </a:r>
            <a:endParaRPr lang="he-IL" sz="1400" dirty="0"/>
          </a:p>
        </p:txBody>
      </p:sp>
      <p:sp>
        <p:nvSpPr>
          <p:cNvPr id="39" name="Flowchart: Summing Junction 38">
            <a:extLst>
              <a:ext uri="{FF2B5EF4-FFF2-40B4-BE49-F238E27FC236}">
                <a16:creationId xmlns:a16="http://schemas.microsoft.com/office/drawing/2014/main" id="{FA9216D6-5A2A-15BE-1CB8-F91B2433D141}"/>
              </a:ext>
            </a:extLst>
          </p:cNvPr>
          <p:cNvSpPr/>
          <p:nvPr/>
        </p:nvSpPr>
        <p:spPr>
          <a:xfrm>
            <a:off x="1547662" y="4581128"/>
            <a:ext cx="144017" cy="144016"/>
          </a:xfrm>
          <a:prstGeom prst="flowChartSummingJunctio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97FA522-E55B-A710-E4AB-B63FCE3632BD}"/>
              </a:ext>
            </a:extLst>
          </p:cNvPr>
          <p:cNvSpPr txBox="1"/>
          <p:nvPr/>
        </p:nvSpPr>
        <p:spPr>
          <a:xfrm>
            <a:off x="1115616" y="4653136"/>
            <a:ext cx="504056" cy="3077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en-US" sz="1400" dirty="0"/>
              <a:t>-r</a:t>
            </a:r>
            <a:endParaRPr lang="he-IL" sz="1400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2ED83F9-47EB-3A8D-E36A-059E6A6CED93}"/>
              </a:ext>
            </a:extLst>
          </p:cNvPr>
          <p:cNvCxnSpPr>
            <a:stCxn id="39" idx="0"/>
            <a:endCxn id="34" idx="0"/>
          </p:cNvCxnSpPr>
          <p:nvPr/>
        </p:nvCxnSpPr>
        <p:spPr>
          <a:xfrm>
            <a:off x="1619671" y="4581128"/>
            <a:ext cx="144017" cy="936104"/>
          </a:xfrm>
          <a:prstGeom prst="lin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cxnSp>
      <p:sp>
        <p:nvSpPr>
          <p:cNvPr id="42" name="Flowchart: Summing Junction 41">
            <a:extLst>
              <a:ext uri="{FF2B5EF4-FFF2-40B4-BE49-F238E27FC236}">
                <a16:creationId xmlns:a16="http://schemas.microsoft.com/office/drawing/2014/main" id="{A8527954-5776-780F-0201-68F5EB8A3392}"/>
              </a:ext>
            </a:extLst>
          </p:cNvPr>
          <p:cNvSpPr/>
          <p:nvPr/>
        </p:nvSpPr>
        <p:spPr>
          <a:xfrm>
            <a:off x="1619672" y="5085184"/>
            <a:ext cx="144016" cy="144016"/>
          </a:xfrm>
          <a:prstGeom prst="flowChartSummingJunctio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43" name="Picture 24">
            <a:extLst>
              <a:ext uri="{FF2B5EF4-FFF2-40B4-BE49-F238E27FC236}">
                <a16:creationId xmlns:a16="http://schemas.microsoft.com/office/drawing/2014/main" id="{D07AA32C-AC3B-5152-2254-0AD51F532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8705" r="45279"/>
          <a:stretch>
            <a:fillRect/>
          </a:stretch>
        </p:blipFill>
        <p:spPr bwMode="auto">
          <a:xfrm>
            <a:off x="899592" y="5157192"/>
            <a:ext cx="637785" cy="37204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pic>
      <p:sp>
        <p:nvSpPr>
          <p:cNvPr id="44" name="PB">
            <a:extLst>
              <a:ext uri="{FF2B5EF4-FFF2-40B4-BE49-F238E27FC236}">
                <a16:creationId xmlns:a16="http://schemas.microsoft.com/office/drawing/2014/main" id="{761E7DEB-FD5C-40F9-E35E-7B92E9900F3C}"/>
              </a:ext>
            </a:extLst>
          </p:cNvPr>
          <p:cNvSpPr/>
          <p:nvPr/>
        </p:nvSpPr>
        <p:spPr>
          <a:xfrm>
            <a:off x="0" y="6705600"/>
            <a:ext cx="6966857" cy="152400"/>
          </a:xfrm>
          <a:prstGeom prst="rect">
            <a:avLst/>
          </a:prstGeom>
          <a:solidFill>
            <a:srgbClr val="7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94478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9" grpId="0" animBg="1"/>
      <p:bldP spid="33" grpId="0" animBg="1"/>
      <p:bldP spid="34" grpId="0" animBg="1"/>
      <p:bldP spid="35" grpId="0" animBg="1"/>
      <p:bldP spid="38" grpId="0" animBg="1"/>
      <p:bldP spid="39" grpId="0" animBg="1"/>
      <p:bldP spid="40" grpId="0" animBg="1"/>
      <p:bldP spid="4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AAC2-8321-51D3-A0AE-A8E7E241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22300"/>
            <a:ext cx="10353762" cy="970450"/>
          </a:xfrm>
        </p:spPr>
        <p:txBody>
          <a:bodyPr/>
          <a:lstStyle/>
          <a:p>
            <a:pPr algn="r" rtl="1"/>
            <a:r>
              <a:rPr lang="he-IL" dirty="0"/>
              <a:t>משפט מינקובסקי במרחב 4 מימדי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5B8C4-CC7F-D8BA-3F44-81C7A8541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sz="2800" dirty="0"/>
              <a:t>משפט דומה גם לקבוצות של נקודות במרחב ארבע מימדי. </a:t>
            </a:r>
          </a:p>
          <a:p>
            <a:pPr algn="r" rtl="1"/>
            <a:r>
              <a:rPr lang="he-IL" sz="2800" dirty="0"/>
              <a:t>בחינה של ההוכחה מראה שצריך להניח שהנפח (הארבע מימדי) של הקבוצה גדול מ 16.</a:t>
            </a:r>
          </a:p>
          <a:p>
            <a:pPr algn="r" rtl="1"/>
            <a:r>
              <a:rPr lang="he-IL" sz="2800" b="1" dirty="0"/>
              <a:t>משפט</a:t>
            </a:r>
            <a:r>
              <a:rPr lang="he-IL" sz="2800" dirty="0"/>
              <a:t>: </a:t>
            </a:r>
            <a:r>
              <a:rPr lang="he-IL" sz="2800" b="1" dirty="0"/>
              <a:t>קבוצה סימטרית וקמורה מנפח גדול מ 16 במרחב ארבע מימדי מכילה נקודה שלמה שאינה הראשית. </a:t>
            </a:r>
          </a:p>
          <a:p>
            <a:pPr algn="r" rtl="1"/>
            <a:endParaRPr lang="he-IL" sz="2400" dirty="0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5879EB26-E993-4E8B-5CE4-4A2837E01335}"/>
              </a:ext>
            </a:extLst>
          </p:cNvPr>
          <p:cNvSpPr/>
          <p:nvPr/>
        </p:nvSpPr>
        <p:spPr>
          <a:xfrm>
            <a:off x="0" y="6705600"/>
            <a:ext cx="7402285" cy="152400"/>
          </a:xfrm>
          <a:prstGeom prst="rect">
            <a:avLst/>
          </a:prstGeom>
          <a:solidFill>
            <a:srgbClr val="7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32259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AAC2-8321-51D3-A0AE-A8E7E241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22300"/>
            <a:ext cx="10353762" cy="970450"/>
          </a:xfrm>
        </p:spPr>
        <p:txBody>
          <a:bodyPr/>
          <a:lstStyle/>
          <a:p>
            <a:pPr algn="r" rtl="1"/>
            <a:r>
              <a:rPr lang="he-IL" dirty="0"/>
              <a:t>הכללה לסריגים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5B8C4-CC7F-D8BA-3F44-81C7A8541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sz="2800" dirty="0"/>
              <a:t>סריג במישור הוא קבוצת הצירופים השלמים של 2 וקטורים קבועים שאינם על ישר אחד</a:t>
            </a:r>
            <a:endParaRPr lang="he-IL" sz="2400" dirty="0"/>
          </a:p>
          <a:p>
            <a:pPr algn="r" rtl="1"/>
            <a:endParaRPr lang="he-IL" sz="2800" dirty="0"/>
          </a:p>
          <a:p>
            <a:pPr algn="r" rtl="1"/>
            <a:endParaRPr lang="he-IL" sz="2800" dirty="0"/>
          </a:p>
          <a:p>
            <a:pPr algn="r" rtl="1"/>
            <a:r>
              <a:rPr lang="he-IL" sz="2800" dirty="0"/>
              <a:t>סריג במרחב הארבע מימדי היא </a:t>
            </a:r>
          </a:p>
          <a:p>
            <a:pPr marL="36900" indent="0" algn="r" rtl="1">
              <a:buNone/>
            </a:pPr>
            <a:r>
              <a:rPr lang="he-IL" sz="2800" dirty="0"/>
              <a:t>קבוצת הצירופים השלמים של ארבעה וקטורים קבועים (בלתי תלויים). </a:t>
            </a:r>
          </a:p>
          <a:p>
            <a:pPr algn="r" rtl="1"/>
            <a:endParaRPr lang="he-IL" sz="2800" dirty="0"/>
          </a:p>
        </p:txBody>
      </p:sp>
      <p:pic>
        <p:nvPicPr>
          <p:cNvPr id="5" name="Picture 2" descr="Image result for lattices">
            <a:extLst>
              <a:ext uri="{FF2B5EF4-FFF2-40B4-BE49-F238E27FC236}">
                <a16:creationId xmlns:a16="http://schemas.microsoft.com/office/drawing/2014/main" id="{12B41039-AEE4-5EC9-9848-AC11D749FD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1843" y="339113"/>
            <a:ext cx="1676028" cy="1421877"/>
          </a:xfrm>
          <a:prstGeom prst="rect">
            <a:avLst/>
          </a:prstGeom>
          <a:noFill/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1BF918C8-AECF-B042-DFC9-052A0CFD058F}"/>
              </a:ext>
            </a:extLst>
          </p:cNvPr>
          <p:cNvGrpSpPr/>
          <p:nvPr/>
        </p:nvGrpSpPr>
        <p:grpSpPr>
          <a:xfrm>
            <a:off x="1680986" y="2477913"/>
            <a:ext cx="3622534" cy="1863080"/>
            <a:chOff x="251520" y="4221088"/>
            <a:chExt cx="2592288" cy="1728192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09E8D7E-57A1-8212-1229-CE830BD0F26A}"/>
                </a:ext>
              </a:extLst>
            </p:cNvPr>
            <p:cNvCxnSpPr/>
            <p:nvPr/>
          </p:nvCxnSpPr>
          <p:spPr>
            <a:xfrm flipH="1">
              <a:off x="251520" y="4221088"/>
              <a:ext cx="648072" cy="17281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9C7B302-1174-1A17-760E-0C0EF75C471C}"/>
                </a:ext>
              </a:extLst>
            </p:cNvPr>
            <p:cNvCxnSpPr/>
            <p:nvPr/>
          </p:nvCxnSpPr>
          <p:spPr>
            <a:xfrm flipH="1">
              <a:off x="611560" y="4221088"/>
              <a:ext cx="648072" cy="17281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EABC0EE-4844-AB33-6729-1637899C209E}"/>
                </a:ext>
              </a:extLst>
            </p:cNvPr>
            <p:cNvCxnSpPr/>
            <p:nvPr/>
          </p:nvCxnSpPr>
          <p:spPr>
            <a:xfrm flipH="1">
              <a:off x="1043608" y="4221088"/>
              <a:ext cx="648072" cy="17281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37C0C82-F796-EED2-4254-3BD0535D98D8}"/>
                </a:ext>
              </a:extLst>
            </p:cNvPr>
            <p:cNvCxnSpPr/>
            <p:nvPr/>
          </p:nvCxnSpPr>
          <p:spPr>
            <a:xfrm flipH="1">
              <a:off x="1475656" y="4221088"/>
              <a:ext cx="648072" cy="17281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7E2D51F-0D3D-5ECA-FE52-5044AA127E51}"/>
                </a:ext>
              </a:extLst>
            </p:cNvPr>
            <p:cNvCxnSpPr/>
            <p:nvPr/>
          </p:nvCxnSpPr>
          <p:spPr>
            <a:xfrm flipH="1">
              <a:off x="1979712" y="4221088"/>
              <a:ext cx="648072" cy="17281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43EB188-436D-8E82-62F7-D74D51D89930}"/>
                </a:ext>
              </a:extLst>
            </p:cNvPr>
            <p:cNvCxnSpPr/>
            <p:nvPr/>
          </p:nvCxnSpPr>
          <p:spPr>
            <a:xfrm flipH="1">
              <a:off x="251520" y="5661248"/>
              <a:ext cx="2448272" cy="2434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28654F3-D371-2EB2-16EC-DF29ACF6FE67}"/>
                </a:ext>
              </a:extLst>
            </p:cNvPr>
            <p:cNvCxnSpPr/>
            <p:nvPr/>
          </p:nvCxnSpPr>
          <p:spPr>
            <a:xfrm flipH="1">
              <a:off x="251520" y="5373216"/>
              <a:ext cx="2448272" cy="2434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FE7AFD6-455F-9BC0-A24A-A3D147335F55}"/>
                </a:ext>
              </a:extLst>
            </p:cNvPr>
            <p:cNvCxnSpPr/>
            <p:nvPr/>
          </p:nvCxnSpPr>
          <p:spPr>
            <a:xfrm flipH="1">
              <a:off x="251520" y="5085184"/>
              <a:ext cx="2448272" cy="2434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C7A9AD0-3828-ADF7-637D-F3C92E4B6094}"/>
                </a:ext>
              </a:extLst>
            </p:cNvPr>
            <p:cNvCxnSpPr/>
            <p:nvPr/>
          </p:nvCxnSpPr>
          <p:spPr>
            <a:xfrm flipH="1">
              <a:off x="251520" y="4797152"/>
              <a:ext cx="2448272" cy="2434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79E975C-A140-FBC8-84B6-8E9DEE10B5DE}"/>
                </a:ext>
              </a:extLst>
            </p:cNvPr>
            <p:cNvCxnSpPr/>
            <p:nvPr/>
          </p:nvCxnSpPr>
          <p:spPr>
            <a:xfrm flipH="1">
              <a:off x="251520" y="4509120"/>
              <a:ext cx="2448272" cy="2434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D1D4B03-65F4-B9BA-92E3-5D76B3C7924B}"/>
                </a:ext>
              </a:extLst>
            </p:cNvPr>
            <p:cNvCxnSpPr/>
            <p:nvPr/>
          </p:nvCxnSpPr>
          <p:spPr>
            <a:xfrm flipH="1">
              <a:off x="395536" y="4221088"/>
              <a:ext cx="2448272" cy="2434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6F9F412-5220-72F6-306C-8837B8FC1735}"/>
              </a:ext>
            </a:extLst>
          </p:cNvPr>
          <p:cNvGrpSpPr/>
          <p:nvPr/>
        </p:nvGrpSpPr>
        <p:grpSpPr>
          <a:xfrm>
            <a:off x="3107141" y="3731267"/>
            <a:ext cx="157680" cy="263880"/>
            <a:chOff x="3107141" y="3731267"/>
            <a:chExt cx="157680" cy="26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F04CB33-7648-D700-7D6F-61EAD8DE19F9}"/>
                    </a:ext>
                  </a:extLst>
                </p14:cNvPr>
                <p14:cNvContentPartPr/>
                <p14:nvPr/>
              </p14:nvContentPartPr>
              <p14:xfrm>
                <a:off x="3107141" y="3731267"/>
                <a:ext cx="88200" cy="63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F04CB33-7648-D700-7D6F-61EAD8DE19F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098501" y="3722627"/>
                  <a:ext cx="1058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D674656-484D-4F7F-5C72-C20514DC8BDE}"/>
                    </a:ext>
                  </a:extLst>
                </p14:cNvPr>
                <p14:cNvContentPartPr/>
                <p14:nvPr/>
              </p14:nvContentPartPr>
              <p14:xfrm>
                <a:off x="3204341" y="3809387"/>
                <a:ext cx="60480" cy="185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D674656-484D-4F7F-5C72-C20514DC8BD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195341" y="3800747"/>
                  <a:ext cx="78120" cy="20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D558963-CC4B-E659-A896-BF7AB313AA82}"/>
                  </a:ext>
                </a:extLst>
              </p14:cNvPr>
              <p14:cNvContentPartPr/>
              <p14:nvPr/>
            </p14:nvContentPartPr>
            <p14:xfrm>
              <a:off x="3206767" y="3200903"/>
              <a:ext cx="695520" cy="3452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D558963-CC4B-E659-A896-BF7AB313AA8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197767" y="3191903"/>
                <a:ext cx="713160" cy="362880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EEF4A968-8613-D6BD-D9AC-7D4C882D797A}"/>
              </a:ext>
            </a:extLst>
          </p:cNvPr>
          <p:cNvSpPr txBox="1"/>
          <p:nvPr/>
        </p:nvSpPr>
        <p:spPr>
          <a:xfrm>
            <a:off x="1248459" y="3110909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i="1" dirty="0"/>
              <a:t>מקבילון יסודי</a:t>
            </a:r>
            <a:r>
              <a:rPr lang="en-US" i="1" dirty="0"/>
              <a:t> </a:t>
            </a:r>
            <a:r>
              <a:rPr lang="he-IL" i="1" dirty="0"/>
              <a:t>(שטח יסודי)</a:t>
            </a:r>
            <a:endParaRPr lang="en-IL" dirty="0"/>
          </a:p>
        </p:txBody>
      </p:sp>
      <p:sp>
        <p:nvSpPr>
          <p:cNvPr id="24" name="PB">
            <a:extLst>
              <a:ext uri="{FF2B5EF4-FFF2-40B4-BE49-F238E27FC236}">
                <a16:creationId xmlns:a16="http://schemas.microsoft.com/office/drawing/2014/main" id="{F0FA8428-CA2F-4F8B-8CD3-6F89CECC9DD8}"/>
              </a:ext>
            </a:extLst>
          </p:cNvPr>
          <p:cNvSpPr/>
          <p:nvPr/>
        </p:nvSpPr>
        <p:spPr>
          <a:xfrm>
            <a:off x="0" y="6705600"/>
            <a:ext cx="7837715" cy="152400"/>
          </a:xfrm>
          <a:prstGeom prst="rect">
            <a:avLst/>
          </a:prstGeom>
          <a:solidFill>
            <a:srgbClr val="7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00465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AAC2-8321-51D3-A0AE-A8E7E241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22300"/>
            <a:ext cx="10353762" cy="970450"/>
          </a:xfrm>
        </p:spPr>
        <p:txBody>
          <a:bodyPr/>
          <a:lstStyle/>
          <a:p>
            <a:pPr algn="r" rtl="1"/>
            <a:r>
              <a:rPr lang="he-IL" dirty="0"/>
              <a:t>משפט מינקובסקי לסריגים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E5B8C4-CC7F-D8BA-3F44-81C7A85413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r" rtl="1"/>
                <a:r>
                  <a:rPr lang="he-IL" sz="3200" b="1" dirty="0"/>
                  <a:t>משפט</a:t>
                </a:r>
                <a:r>
                  <a:rPr lang="he-IL" sz="3200" dirty="0"/>
                  <a:t>: </a:t>
                </a:r>
                <a:r>
                  <a:rPr lang="he-IL" sz="3200" b="1" dirty="0"/>
                  <a:t>בהינתן סריג במרחב 4 מימדי עם נפח יסודי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he-IL" sz="3200" b="1" dirty="0"/>
                  <a:t>, קבוצה סימטרית ביחס לראשית וקמורה מנפח גדול מ </a:t>
                </a:r>
                <a:r>
                  <a:rPr lang="en-US" sz="3200" b="1" dirty="0"/>
                  <a:t>V</a:t>
                </a:r>
                <a:r>
                  <a:rPr lang="he-IL" sz="3200" b="1" dirty="0"/>
                  <a:t>16 מכילה נקודה בסריג מלבד הראשית.</a:t>
                </a:r>
              </a:p>
              <a:p>
                <a:pPr algn="r" rtl="1"/>
                <a:endParaRPr lang="he-IL" sz="2800" b="1" dirty="0"/>
              </a:p>
              <a:p>
                <a:pPr algn="r" rtl="1"/>
                <a:r>
                  <a:rPr lang="he-IL" sz="2800" dirty="0"/>
                  <a:t>ההוכחה זהה.</a:t>
                </a:r>
              </a:p>
              <a:p>
                <a:pPr algn="r" rtl="1"/>
                <a:endParaRPr lang="he-IL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E5B8C4-CC7F-D8BA-3F44-81C7A85413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B">
            <a:extLst>
              <a:ext uri="{FF2B5EF4-FFF2-40B4-BE49-F238E27FC236}">
                <a16:creationId xmlns:a16="http://schemas.microsoft.com/office/drawing/2014/main" id="{B4E9F57D-3DEA-44B4-9916-3D8BBD2630BB}"/>
              </a:ext>
            </a:extLst>
          </p:cNvPr>
          <p:cNvSpPr/>
          <p:nvPr/>
        </p:nvSpPr>
        <p:spPr>
          <a:xfrm>
            <a:off x="0" y="6705600"/>
            <a:ext cx="8273143" cy="152400"/>
          </a:xfrm>
          <a:prstGeom prst="rect">
            <a:avLst/>
          </a:prstGeom>
          <a:solidFill>
            <a:srgbClr val="7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14145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AAC2-8321-51D3-A0AE-A8E7E241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22300"/>
            <a:ext cx="10353762" cy="970450"/>
          </a:xfrm>
        </p:spPr>
        <p:txBody>
          <a:bodyPr/>
          <a:lstStyle/>
          <a:p>
            <a:pPr algn="r" rtl="1"/>
            <a:r>
              <a:rPr lang="he-IL" dirty="0"/>
              <a:t>חזרה למשפט לגראנז'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E5B8C4-CC7F-D8BA-3F44-81C7A85413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3794" y="1732449"/>
                <a:ext cx="10897205" cy="4358831"/>
              </a:xfrm>
            </p:spPr>
            <p:txBody>
              <a:bodyPr>
                <a:normAutofit/>
              </a:bodyPr>
              <a:lstStyle/>
              <a:p>
                <a:pPr algn="r" rtl="1"/>
                <a:r>
                  <a:rPr lang="he-IL" sz="2800" u="sng" dirty="0"/>
                  <a:t>טענת עזר</a:t>
                </a:r>
                <a:r>
                  <a:rPr lang="he-IL" sz="2800" dirty="0"/>
                  <a:t>:</a:t>
                </a:r>
                <a:r>
                  <a:rPr lang="en-US" sz="2800" dirty="0"/>
                  <a:t> </a:t>
                </a:r>
                <a:r>
                  <a:rPr lang="he-IL" sz="2800" dirty="0"/>
                  <a:t>בהינתן ראשוני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he-IL" sz="2800" dirty="0"/>
                  <a:t> יש שני מספרים שלמים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he-IL" sz="2800" dirty="0"/>
                  <a:t> עם התכונה ש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he-IL" sz="2800" dirty="0"/>
                  <a:t> מחלק את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he-IL" sz="2800" dirty="0"/>
                  <a:t>.</a:t>
                </a:r>
              </a:p>
              <a:p>
                <a:pPr algn="r" rtl="1"/>
                <a:r>
                  <a:rPr lang="he-IL" sz="2800" u="sng" dirty="0"/>
                  <a:t>הוכחה</a:t>
                </a:r>
                <a:r>
                  <a:rPr lang="he-IL" sz="2800" dirty="0"/>
                  <a:t>: יש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he-IL" sz="2800" dirty="0"/>
                  <a:t> ריבועים מודולו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he-IL" sz="2800" dirty="0"/>
                  <a:t>. </a:t>
                </a:r>
                <a:endParaRPr lang="en-US" sz="2800" dirty="0"/>
              </a:p>
              <a:p>
                <a:pPr marL="36900" indent="0" algn="r" rtl="1">
                  <a:buNone/>
                </a:pPr>
                <a:r>
                  <a:rPr lang="he-IL" sz="2800" dirty="0"/>
                  <a:t>מכאן שהקבוצות של איברים מודולו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he-IL" sz="2800" dirty="0"/>
                  <a:t>:</a:t>
                </a:r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 marL="36900" indent="0" algn="r" rtl="1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he-IL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e-IL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he-IL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he-IL" sz="2800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={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}</m:t>
                      </m:r>
                    </m:oMath>
                  </m:oMathPara>
                </a14:m>
                <a:endParaRPr lang="en-US" sz="2800" dirty="0"/>
              </a:p>
              <a:p>
                <a:pPr marL="36900" indent="0" algn="r" rtl="1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−1−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,−1−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,−1−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,…,−1−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={−1−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dirty="0"/>
              </a:p>
              <a:p>
                <a:pPr marL="36900" indent="0" algn="r" rtl="1">
                  <a:buNone/>
                </a:pPr>
                <a:r>
                  <a:rPr lang="he-IL" sz="2800" dirty="0"/>
                  <a:t>חייבות להיחתך, כלומר יש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he-IL" sz="2800" dirty="0"/>
                  <a:t> כך ש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=−1−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he-IL" sz="2800" dirty="0"/>
                  <a:t> כנדרש.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E5B8C4-CC7F-D8BA-3F44-81C7A85413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3794" y="1732449"/>
                <a:ext cx="10897205" cy="435883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B">
            <a:extLst>
              <a:ext uri="{FF2B5EF4-FFF2-40B4-BE49-F238E27FC236}">
                <a16:creationId xmlns:a16="http://schemas.microsoft.com/office/drawing/2014/main" id="{38828236-45B7-4F9A-3199-CD51B858B2A4}"/>
              </a:ext>
            </a:extLst>
          </p:cNvPr>
          <p:cNvSpPr/>
          <p:nvPr/>
        </p:nvSpPr>
        <p:spPr>
          <a:xfrm>
            <a:off x="0" y="6705600"/>
            <a:ext cx="8708572" cy="152400"/>
          </a:xfrm>
          <a:prstGeom prst="rect">
            <a:avLst/>
          </a:prstGeom>
          <a:solidFill>
            <a:srgbClr val="7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660155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AAC2-8321-51D3-A0AE-A8E7E241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22300"/>
            <a:ext cx="10353762" cy="970450"/>
          </a:xfrm>
        </p:spPr>
        <p:txBody>
          <a:bodyPr/>
          <a:lstStyle/>
          <a:p>
            <a:pPr algn="r" rtl="1"/>
            <a:r>
              <a:rPr lang="he-IL" dirty="0"/>
              <a:t>בנית הסריג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E5B8C4-CC7F-D8BA-3F44-81C7A85413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6900" indent="0" algn="r" rtl="1">
                  <a:buNone/>
                </a:pPr>
                <a:r>
                  <a:rPr lang="he-IL" sz="2800" dirty="0"/>
                  <a:t>נסתכל בסריג שהוא הצירופים השלמים של הוקטורים הבאים:</a:t>
                </a:r>
                <a:endParaRPr lang="en-US" sz="2800" dirty="0"/>
              </a:p>
              <a:p>
                <a:pPr marL="36900" indent="0" algn="l">
                  <a:buNone/>
                </a:pPr>
                <a:r>
                  <a:rPr lang="en-US" sz="2800" i="1" dirty="0">
                    <a:latin typeface="Cambria Math" panose="02040503050406030204" pitchFamily="18" charset="0"/>
                  </a:rPr>
                  <a:t>(p,0,0,0)</a:t>
                </a:r>
              </a:p>
              <a:p>
                <a:pPr marL="36900" indent="0" algn="l">
                  <a:buNone/>
                </a:pPr>
                <a:r>
                  <a:rPr lang="en-US" sz="2800" b="0" i="1" dirty="0">
                    <a:latin typeface="Cambria Math" panose="02040503050406030204" pitchFamily="18" charset="0"/>
                  </a:rPr>
                  <a:t>(0,p,0,0)</a:t>
                </a:r>
              </a:p>
              <a:p>
                <a:pPr marL="36900" indent="0" algn="l">
                  <a:buNone/>
                </a:pPr>
                <a:r>
                  <a:rPr lang="en-US" sz="2800" b="0" i="1" dirty="0">
                    <a:latin typeface="Cambria Math" panose="02040503050406030204" pitchFamily="18" charset="0"/>
                  </a:rPr>
                  <a:t>(a,b,1,0)</a:t>
                </a:r>
              </a:p>
              <a:p>
                <a:pPr marL="36900" indent="0" algn="l">
                  <a:buNone/>
                </a:pPr>
                <a:r>
                  <a:rPr lang="en-US" sz="2800" b="0" i="1" dirty="0">
                    <a:latin typeface="Cambria Math" panose="02040503050406030204" pitchFamily="18" charset="0"/>
                  </a:rPr>
                  <a:t>(b,-a,0,1)</a:t>
                </a:r>
                <a:endParaRPr lang="he-IL" sz="2800" dirty="0"/>
              </a:p>
              <a:p>
                <a:pPr algn="r" rtl="1"/>
                <a:r>
                  <a:rPr lang="he-IL" sz="2800" dirty="0"/>
                  <a:t>נפח המקבילון היסודי הוא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he-IL" sz="2800" dirty="0"/>
                  <a:t> .</a:t>
                </a:r>
              </a:p>
              <a:p>
                <a:pPr algn="r" rtl="1"/>
                <a:r>
                  <a:rPr lang="he-IL" sz="2800" dirty="0"/>
                  <a:t>כל נקודות הסריג שלנו הן שלמות.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E5B8C4-CC7F-D8BA-3F44-81C7A85413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B">
            <a:extLst>
              <a:ext uri="{FF2B5EF4-FFF2-40B4-BE49-F238E27FC236}">
                <a16:creationId xmlns:a16="http://schemas.microsoft.com/office/drawing/2014/main" id="{9B20DA96-F0A7-7828-D653-B36616A7D013}"/>
              </a:ext>
            </a:extLst>
          </p:cNvPr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7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0958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AAC2-8321-51D3-A0AE-A8E7E241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22300"/>
            <a:ext cx="10353762" cy="970450"/>
          </a:xfrm>
        </p:spPr>
        <p:txBody>
          <a:bodyPr/>
          <a:lstStyle/>
          <a:p>
            <a:pPr algn="r" rtl="1"/>
            <a:r>
              <a:rPr lang="he-IL" dirty="0"/>
              <a:t>אורכי וקטורים בסריג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E5B8C4-CC7F-D8BA-3F44-81C7A85413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r" rtl="1"/>
                <a:r>
                  <a:rPr lang="he-IL" sz="2800" u="sng" dirty="0"/>
                  <a:t>טענה</a:t>
                </a:r>
                <a:r>
                  <a:rPr lang="he-IL" sz="2800" dirty="0"/>
                  <a:t>: ריבוע האורך של נקודה בסריג מתחלק ב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he-IL" sz="2800" dirty="0"/>
                  <a:t>.</a:t>
                </a:r>
              </a:p>
              <a:p>
                <a:pPr algn="r" rtl="1"/>
                <a:r>
                  <a:rPr lang="he-IL" sz="2800" u="sng" dirty="0"/>
                  <a:t>הוכחה</a:t>
                </a:r>
                <a:r>
                  <a:rPr lang="he-IL" sz="2800" dirty="0"/>
                  <a:t>: נחשב את </a:t>
                </a:r>
                <a:endParaRPr lang="en-US" sz="2800" dirty="0"/>
              </a:p>
              <a:p>
                <a:pPr marL="36900" indent="0" algn="r" rtl="1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,0,0,0</m:t>
                                  </m:r>
                                </m:e>
                              </m:d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0,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,0,0</m:t>
                                  </m:r>
                                </m:e>
                              </m:d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,1,0</m:t>
                                  </m:r>
                                </m:e>
                              </m:d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,−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,0,1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 marL="36900" indent="0" algn="r" rtl="1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b="0" dirty="0"/>
              </a:p>
              <a:p>
                <a:pPr marL="36900" indent="0" algn="r" rtl="1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≡</m:t>
                      </m:r>
                    </m:oMath>
                  </m:oMathPara>
                </a14:m>
                <a:endParaRPr lang="en-US" sz="2800" b="0" dirty="0"/>
              </a:p>
              <a:p>
                <a:pPr marL="36900" indent="0" algn="r" rtl="1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≡</m:t>
                      </m:r>
                    </m:oMath>
                  </m:oMathPara>
                </a14:m>
                <a:endParaRPr lang="en-US" sz="2800" b="0" dirty="0"/>
              </a:p>
              <a:p>
                <a:pPr marL="36900" indent="0" algn="r" rtl="1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≡0    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E5B8C4-CC7F-D8BA-3F44-81C7A85413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B">
            <a:extLst>
              <a:ext uri="{FF2B5EF4-FFF2-40B4-BE49-F238E27FC236}">
                <a16:creationId xmlns:a16="http://schemas.microsoft.com/office/drawing/2014/main" id="{3F0C44BA-582A-FE27-23C3-E7B7C3F7030B}"/>
              </a:ext>
            </a:extLst>
          </p:cNvPr>
          <p:cNvSpPr/>
          <p:nvPr/>
        </p:nvSpPr>
        <p:spPr>
          <a:xfrm>
            <a:off x="0" y="6705600"/>
            <a:ext cx="9579428" cy="152400"/>
          </a:xfrm>
          <a:prstGeom prst="rect">
            <a:avLst/>
          </a:prstGeom>
          <a:solidFill>
            <a:srgbClr val="7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92574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AAC2-8321-51D3-A0AE-A8E7E241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22300"/>
            <a:ext cx="10353762" cy="970450"/>
          </a:xfrm>
        </p:spPr>
        <p:txBody>
          <a:bodyPr/>
          <a:lstStyle/>
          <a:p>
            <a:pPr algn="r" rtl="1"/>
            <a:r>
              <a:rPr lang="he-IL" dirty="0"/>
              <a:t>פינאלה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E5B8C4-CC7F-D8BA-3F44-81C7A85413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r" rtl="1"/>
                <a:r>
                  <a:rPr lang="he-IL" sz="2800" dirty="0"/>
                  <a:t>נסתכל על הכדור הפתוח ב4 מימד שמרכזו ראשית הצירים ורדיוסו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rad>
                  </m:oMath>
                </a14:m>
                <a:r>
                  <a:rPr lang="he-IL" sz="2800" dirty="0"/>
                  <a:t>.</a:t>
                </a:r>
              </a:p>
              <a:p>
                <a:pPr algn="r" rtl="1"/>
                <a:r>
                  <a:rPr lang="he-IL" sz="2800" dirty="0"/>
                  <a:t>זה קבוצה קמורה וסמטרית ביחס ל0.</a:t>
                </a:r>
              </a:p>
              <a:p>
                <a:pPr algn="r" rtl="1"/>
                <a:r>
                  <a:rPr lang="he-IL" sz="2800" dirty="0"/>
                  <a:t>הנפח שלה הוא:</a:t>
                </a:r>
                <a:r>
                  <a:rPr lang="en-US" sz="2800" dirty="0"/>
                  <a:t> </a:t>
                </a:r>
                <a:r>
                  <a:rPr lang="he-IL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⋅4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&gt;16⋅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he-IL" sz="2800" dirty="0"/>
                  <a:t>.</a:t>
                </a:r>
              </a:p>
              <a:p>
                <a:pPr algn="r" rtl="1"/>
                <a:r>
                  <a:rPr lang="he-IL" sz="2800" dirty="0"/>
                  <a:t>ממשפט מינקובסקי, יש וקטור בכדור שהוא בסריג שלנו ואיננו 0. </a:t>
                </a:r>
              </a:p>
              <a:p>
                <a:pPr algn="r" rtl="1"/>
                <a:r>
                  <a:rPr lang="he-IL" sz="2800" dirty="0"/>
                  <a:t>האורך שלו בריבוע מתחלק ב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he-IL" sz="2800" dirty="0"/>
                  <a:t>, חיובי, וקטן מ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he-IL" sz="2800" dirty="0"/>
                  <a:t>  -- לכן הוא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he-IL" sz="2800" dirty="0"/>
                  <a:t>  !</a:t>
                </a:r>
              </a:p>
              <a:p>
                <a:pPr algn="r" rtl="1"/>
                <a:r>
                  <a:rPr lang="he-IL" sz="2800" dirty="0"/>
                  <a:t>מכאן ש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he-IL" sz="2800" dirty="0"/>
                  <a:t> הוא סכום של 4 ריבועים!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E5B8C4-CC7F-D8BA-3F44-81C7A85413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B">
            <a:extLst>
              <a:ext uri="{FF2B5EF4-FFF2-40B4-BE49-F238E27FC236}">
                <a16:creationId xmlns:a16="http://schemas.microsoft.com/office/drawing/2014/main" id="{A0393D7C-7CC6-B451-E134-F80C944CF4DE}"/>
              </a:ext>
            </a:extLst>
          </p:cNvPr>
          <p:cNvSpPr/>
          <p:nvPr/>
        </p:nvSpPr>
        <p:spPr>
          <a:xfrm>
            <a:off x="0" y="6705600"/>
            <a:ext cx="10014857" cy="152400"/>
          </a:xfrm>
          <a:prstGeom prst="rect">
            <a:avLst/>
          </a:prstGeom>
          <a:solidFill>
            <a:srgbClr val="7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0520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AAC2-8321-51D3-A0AE-A8E7E241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22300"/>
            <a:ext cx="10353762" cy="970450"/>
          </a:xfrm>
        </p:spPr>
        <p:txBody>
          <a:bodyPr/>
          <a:lstStyle/>
          <a:p>
            <a:pPr algn="r" rtl="1"/>
            <a:r>
              <a:rPr lang="he-IL" dirty="0"/>
              <a:t>סיכום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5B8C4-CC7F-D8BA-3F44-81C7A8541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1533163"/>
            <a:ext cx="10353762" cy="4058751"/>
          </a:xfrm>
        </p:spPr>
        <p:txBody>
          <a:bodyPr>
            <a:noAutofit/>
          </a:bodyPr>
          <a:lstStyle/>
          <a:p>
            <a:pPr algn="r" rtl="1"/>
            <a:r>
              <a:rPr lang="he-IL" sz="2800" dirty="0"/>
              <a:t>משפט ארבעת הריבועים של לגראנז'- כל מספר טבעי הוא סכום של 4 ריבועים.</a:t>
            </a:r>
          </a:p>
          <a:p>
            <a:pPr algn="r" rtl="1"/>
            <a:r>
              <a:rPr lang="he-IL" sz="2800" dirty="0"/>
              <a:t>דיברנו על נוסחה של אורך של כפל קוונטריונים.</a:t>
            </a:r>
          </a:p>
          <a:p>
            <a:pPr algn="r" rtl="1"/>
            <a:r>
              <a:rPr lang="he-IL" sz="2800" dirty="0"/>
              <a:t>דברנו על עקרון שובך היונים ועקרון שובך היונים הגיאומטרי.</a:t>
            </a:r>
          </a:p>
          <a:p>
            <a:pPr algn="r" rtl="1"/>
            <a:r>
              <a:rPr lang="he-IL" sz="2800" dirty="0"/>
              <a:t>הוכחנו את למת מינקובסקי: קבוצה קמורה וסימטרית במישור ובעלת שטח גדול מ 4 מכילה נקודה שלמה פרט לראשית.</a:t>
            </a:r>
          </a:p>
          <a:p>
            <a:pPr algn="r" rtl="1"/>
            <a:r>
              <a:rPr lang="he-IL" sz="2800" dirty="0"/>
              <a:t>הכללנו למימד 4, ולסריגים כלליים.</a:t>
            </a:r>
          </a:p>
          <a:p>
            <a:pPr algn="r" rtl="1"/>
            <a:r>
              <a:rPr lang="he-IL" sz="2800" dirty="0"/>
              <a:t>הוכחנו את משפט לגראנז'.</a:t>
            </a:r>
          </a:p>
          <a:p>
            <a:pPr algn="r" rtl="1"/>
            <a:endParaRPr lang="he-IL" sz="2800" dirty="0"/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1CB9BFE0-EB03-8C2E-F141-580AB62E64E5}"/>
              </a:ext>
            </a:extLst>
          </p:cNvPr>
          <p:cNvSpPr/>
          <p:nvPr/>
        </p:nvSpPr>
        <p:spPr>
          <a:xfrm>
            <a:off x="0" y="6705600"/>
            <a:ext cx="10450285" cy="152400"/>
          </a:xfrm>
          <a:prstGeom prst="rect">
            <a:avLst/>
          </a:prstGeom>
          <a:solidFill>
            <a:srgbClr val="7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04898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AAC2-8321-51D3-A0AE-A8E7E241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22300"/>
            <a:ext cx="10353762" cy="970450"/>
          </a:xfrm>
        </p:spPr>
        <p:txBody>
          <a:bodyPr/>
          <a:lstStyle/>
          <a:p>
            <a:pPr algn="r" rtl="1"/>
            <a:r>
              <a:rPr lang="he-IL" dirty="0"/>
              <a:t>למה כל זה טוב?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5B8C4-CC7F-D8BA-3F44-81C7A8541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/>
              <a:t>It is true that Fourier had the opinion that the principal aim of mathematics was public utility and explanation of natural phenomena; </a:t>
            </a:r>
          </a:p>
          <a:p>
            <a:pPr marL="0" indent="0">
              <a:buNone/>
            </a:pPr>
            <a:r>
              <a:rPr lang="en-US" sz="3200" b="1" dirty="0"/>
              <a:t>but a philosopher like him should have known that the sole end of science is the honor of the human mind</a:t>
            </a:r>
            <a:r>
              <a:rPr lang="en-US" sz="3200" dirty="0"/>
              <a:t>, and that under this title </a:t>
            </a:r>
            <a:r>
              <a:rPr lang="en-US" sz="3200" dirty="0">
                <a:solidFill>
                  <a:srgbClr val="FFC000"/>
                </a:solidFill>
              </a:rPr>
              <a:t>a question about numbers is worth as much as a question about the system of the world. </a:t>
            </a:r>
          </a:p>
          <a:p>
            <a:pPr marL="0" indent="0">
              <a:buNone/>
            </a:pPr>
            <a:r>
              <a:rPr lang="en-US" sz="3200" dirty="0"/>
              <a:t>(Carl Gustav Jacobi)</a:t>
            </a:r>
            <a:endParaRPr lang="he-IL" sz="3200" dirty="0"/>
          </a:p>
          <a:p>
            <a:pPr>
              <a:buNone/>
            </a:pPr>
            <a:endParaRPr lang="he-IL" sz="3200" dirty="0"/>
          </a:p>
          <a:p>
            <a:pPr algn="r" rtl="1"/>
            <a:r>
              <a:rPr lang="he-IL" sz="3200" dirty="0"/>
              <a:t> </a:t>
            </a:r>
          </a:p>
        </p:txBody>
      </p:sp>
      <p:sp>
        <p:nvSpPr>
          <p:cNvPr id="5" name="PB">
            <a:extLst>
              <a:ext uri="{FF2B5EF4-FFF2-40B4-BE49-F238E27FC236}">
                <a16:creationId xmlns:a16="http://schemas.microsoft.com/office/drawing/2014/main" id="{D92D0C51-19C1-13D0-2160-BDDF0346AB23}"/>
              </a:ext>
            </a:extLst>
          </p:cNvPr>
          <p:cNvSpPr/>
          <p:nvPr/>
        </p:nvSpPr>
        <p:spPr>
          <a:xfrm>
            <a:off x="0" y="6705600"/>
            <a:ext cx="10885715" cy="152400"/>
          </a:xfrm>
          <a:prstGeom prst="rect">
            <a:avLst/>
          </a:prstGeom>
          <a:solidFill>
            <a:srgbClr val="7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213020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AAC2-8321-51D3-A0AE-A8E7E241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22300"/>
            <a:ext cx="10353762" cy="970450"/>
          </a:xfrm>
        </p:spPr>
        <p:txBody>
          <a:bodyPr/>
          <a:lstStyle/>
          <a:p>
            <a:pPr algn="r" rtl="1"/>
            <a:r>
              <a:rPr lang="he-IL" dirty="0"/>
              <a:t>שאלות</a:t>
            </a:r>
            <a:endParaRPr lang="en-IL" dirty="0"/>
          </a:p>
        </p:txBody>
      </p:sp>
      <p:sp>
        <p:nvSpPr>
          <p:cNvPr id="3" name="PB">
            <a:extLst>
              <a:ext uri="{FF2B5EF4-FFF2-40B4-BE49-F238E27FC236}">
                <a16:creationId xmlns:a16="http://schemas.microsoft.com/office/drawing/2014/main" id="{6D86490B-EEBB-29AB-B079-6A9CC221297D}"/>
              </a:ext>
            </a:extLst>
          </p:cNvPr>
          <p:cNvSpPr/>
          <p:nvPr/>
        </p:nvSpPr>
        <p:spPr>
          <a:xfrm>
            <a:off x="0" y="6705600"/>
            <a:ext cx="11321143" cy="152400"/>
          </a:xfrm>
          <a:prstGeom prst="rect">
            <a:avLst/>
          </a:prstGeom>
          <a:solidFill>
            <a:srgbClr val="7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274129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AAC2-8321-51D3-A0AE-A8E7E241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22300"/>
            <a:ext cx="10353762" cy="970450"/>
          </a:xfrm>
        </p:spPr>
        <p:txBody>
          <a:bodyPr/>
          <a:lstStyle/>
          <a:p>
            <a:pPr algn="r" rtl="1"/>
            <a:r>
              <a:rPr lang="he-IL" dirty="0"/>
              <a:t>מה הלאה?</a:t>
            </a:r>
            <a:endParaRPr lang="en-IL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9FD107B-4C5E-E1F0-86F5-9A5F59F8C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058751"/>
          </a:xfrm>
        </p:spPr>
        <p:txBody>
          <a:bodyPr>
            <a:normAutofit/>
          </a:bodyPr>
          <a:lstStyle/>
          <a:p>
            <a:pPr algn="r" rtl="1"/>
            <a:r>
              <a:rPr lang="he-IL" sz="2800" dirty="0"/>
              <a:t>נוסחת יעקובי:</a:t>
            </a:r>
            <a:r>
              <a:rPr lang="en-US" sz="2800" dirty="0"/>
              <a:t> </a:t>
            </a:r>
            <a:r>
              <a:rPr lang="he-IL" sz="2800" dirty="0"/>
              <a:t> בכמה דרכים אפשר לכתוב מספר כסכום של 4 ריבועים.</a:t>
            </a:r>
          </a:p>
          <a:p>
            <a:pPr algn="r" rtl="1"/>
            <a:r>
              <a:rPr lang="he-IL" sz="2800" dirty="0"/>
              <a:t>חזקות גבוהות:</a:t>
            </a:r>
            <a:r>
              <a:rPr lang="en-US" sz="2800" dirty="0"/>
              <a:t> </a:t>
            </a:r>
            <a:r>
              <a:rPr lang="he-IL" sz="2800" dirty="0"/>
              <a:t>כל מספר הוא סכום של 9 קוביות.</a:t>
            </a:r>
          </a:p>
          <a:p>
            <a:pPr algn="r" rtl="1"/>
            <a:r>
              <a:rPr lang="he-IL" sz="2800" dirty="0"/>
              <a:t>מספרים משולשים</a:t>
            </a:r>
            <a:r>
              <a:rPr lang="en-US" sz="2800" dirty="0"/>
              <a:t> </a:t>
            </a:r>
            <a:r>
              <a:rPr lang="he-IL" sz="2800" dirty="0"/>
              <a:t>: 1,3,6,10,21</a:t>
            </a:r>
            <a:r>
              <a:rPr lang="en-US" sz="2800" dirty="0"/>
              <a:t>0,</a:t>
            </a:r>
            <a:r>
              <a:rPr lang="he-IL" sz="2800" dirty="0"/>
              <a:t>.</a:t>
            </a:r>
          </a:p>
          <a:p>
            <a:pPr marL="36900" indent="0" algn="r" rtl="1">
              <a:buNone/>
            </a:pPr>
            <a:r>
              <a:rPr lang="he-IL" sz="2800" dirty="0"/>
              <a:t>משפט גאוס:</a:t>
            </a:r>
            <a:r>
              <a:rPr lang="en-US" sz="2800" dirty="0"/>
              <a:t> </a:t>
            </a:r>
            <a:r>
              <a:rPr lang="he-IL" sz="2800" dirty="0"/>
              <a:t>כל מספר הוא סכום של 3 משולשים.</a:t>
            </a:r>
          </a:p>
        </p:txBody>
      </p:sp>
      <p:sp>
        <p:nvSpPr>
          <p:cNvPr id="6" name="PB">
            <a:extLst>
              <a:ext uri="{FF2B5EF4-FFF2-40B4-BE49-F238E27FC236}">
                <a16:creationId xmlns:a16="http://schemas.microsoft.com/office/drawing/2014/main" id="{7A7B0B94-5E0C-CEE9-3545-BB0B34E2AE07}"/>
              </a:ext>
            </a:extLst>
          </p:cNvPr>
          <p:cNvSpPr/>
          <p:nvPr/>
        </p:nvSpPr>
        <p:spPr>
          <a:xfrm>
            <a:off x="0" y="6705600"/>
            <a:ext cx="11756572" cy="152400"/>
          </a:xfrm>
          <a:prstGeom prst="rect">
            <a:avLst/>
          </a:prstGeom>
          <a:solidFill>
            <a:srgbClr val="7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D1B7B6F-C873-B84F-89CE-124A0DEC0378}"/>
              </a:ext>
            </a:extLst>
          </p:cNvPr>
          <p:cNvSpPr/>
          <p:nvPr/>
        </p:nvSpPr>
        <p:spPr>
          <a:xfrm>
            <a:off x="501915" y="5232675"/>
            <a:ext cx="325729" cy="2939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A528B9A-FCBB-E91F-ECF6-68009F87EBC2}"/>
              </a:ext>
            </a:extLst>
          </p:cNvPr>
          <p:cNvSpPr/>
          <p:nvPr/>
        </p:nvSpPr>
        <p:spPr>
          <a:xfrm>
            <a:off x="1185279" y="4938761"/>
            <a:ext cx="325729" cy="2939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12C64BB-8C1C-852B-6F4F-1EB931566E33}"/>
              </a:ext>
            </a:extLst>
          </p:cNvPr>
          <p:cNvSpPr/>
          <p:nvPr/>
        </p:nvSpPr>
        <p:spPr>
          <a:xfrm>
            <a:off x="1413696" y="5241554"/>
            <a:ext cx="325729" cy="2939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2B24896-001D-6709-A984-76C79F739F3A}"/>
              </a:ext>
            </a:extLst>
          </p:cNvPr>
          <p:cNvSpPr/>
          <p:nvPr/>
        </p:nvSpPr>
        <p:spPr>
          <a:xfrm>
            <a:off x="1022415" y="5238118"/>
            <a:ext cx="325729" cy="2939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6761622-8C94-D42A-ACE4-B0D72C3C1DF7}"/>
              </a:ext>
            </a:extLst>
          </p:cNvPr>
          <p:cNvSpPr/>
          <p:nvPr/>
        </p:nvSpPr>
        <p:spPr>
          <a:xfrm>
            <a:off x="2357922" y="4634685"/>
            <a:ext cx="325729" cy="2939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87B6A90-CB1A-D350-6A03-CF19F9299353}"/>
              </a:ext>
            </a:extLst>
          </p:cNvPr>
          <p:cNvSpPr/>
          <p:nvPr/>
        </p:nvSpPr>
        <p:spPr>
          <a:xfrm>
            <a:off x="2586339" y="4937478"/>
            <a:ext cx="325729" cy="2939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633419-F254-3A4E-A9DA-E034E7FFD342}"/>
              </a:ext>
            </a:extLst>
          </p:cNvPr>
          <p:cNvSpPr/>
          <p:nvPr/>
        </p:nvSpPr>
        <p:spPr>
          <a:xfrm>
            <a:off x="2195058" y="4934042"/>
            <a:ext cx="325729" cy="2939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CFDE351-695F-BA2F-9BB9-B33F73D967DA}"/>
              </a:ext>
            </a:extLst>
          </p:cNvPr>
          <p:cNvSpPr/>
          <p:nvPr/>
        </p:nvSpPr>
        <p:spPr>
          <a:xfrm>
            <a:off x="2390699" y="5238118"/>
            <a:ext cx="325729" cy="2939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D30E4BE-1010-5D38-F79D-04C2D3A4772B}"/>
              </a:ext>
            </a:extLst>
          </p:cNvPr>
          <p:cNvSpPr/>
          <p:nvPr/>
        </p:nvSpPr>
        <p:spPr>
          <a:xfrm>
            <a:off x="1999418" y="5219077"/>
            <a:ext cx="325729" cy="2939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DF768EB-EB19-7D53-C8C3-A24BD836EE5F}"/>
              </a:ext>
            </a:extLst>
          </p:cNvPr>
          <p:cNvSpPr/>
          <p:nvPr/>
        </p:nvSpPr>
        <p:spPr>
          <a:xfrm>
            <a:off x="2748966" y="5219077"/>
            <a:ext cx="325729" cy="2939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5D5F457-1C16-B981-0C40-2C2525B0A6FD}"/>
              </a:ext>
            </a:extLst>
          </p:cNvPr>
          <p:cNvSpPr/>
          <p:nvPr/>
        </p:nvSpPr>
        <p:spPr>
          <a:xfrm>
            <a:off x="3779561" y="4291105"/>
            <a:ext cx="325729" cy="2939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2B0055A-5D1F-80D7-FDA8-59581C6570DC}"/>
              </a:ext>
            </a:extLst>
          </p:cNvPr>
          <p:cNvSpPr/>
          <p:nvPr/>
        </p:nvSpPr>
        <p:spPr>
          <a:xfrm>
            <a:off x="4010120" y="4631962"/>
            <a:ext cx="325729" cy="2939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F4BB039-F6A7-D01B-910C-6B62C4403BE1}"/>
              </a:ext>
            </a:extLst>
          </p:cNvPr>
          <p:cNvSpPr/>
          <p:nvPr/>
        </p:nvSpPr>
        <p:spPr>
          <a:xfrm>
            <a:off x="3579086" y="4650372"/>
            <a:ext cx="325729" cy="2939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E57EE9F-D37F-C465-D2B0-23F39F3F32E7}"/>
              </a:ext>
            </a:extLst>
          </p:cNvPr>
          <p:cNvSpPr/>
          <p:nvPr/>
        </p:nvSpPr>
        <p:spPr>
          <a:xfrm>
            <a:off x="3829156" y="4997991"/>
            <a:ext cx="325729" cy="2939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B59C175-B640-0B99-CD12-F5961A071D50}"/>
              </a:ext>
            </a:extLst>
          </p:cNvPr>
          <p:cNvSpPr/>
          <p:nvPr/>
        </p:nvSpPr>
        <p:spPr>
          <a:xfrm>
            <a:off x="3421947" y="5000722"/>
            <a:ext cx="325729" cy="2939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74A9DFE-3DD4-F21A-BA82-CD672C0548F9}"/>
              </a:ext>
            </a:extLst>
          </p:cNvPr>
          <p:cNvSpPr/>
          <p:nvPr/>
        </p:nvSpPr>
        <p:spPr>
          <a:xfrm>
            <a:off x="4250227" y="4949914"/>
            <a:ext cx="325729" cy="2939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FD5C3DE-EA85-25FE-4487-F5DA81884C92}"/>
              </a:ext>
            </a:extLst>
          </p:cNvPr>
          <p:cNvSpPr/>
          <p:nvPr/>
        </p:nvSpPr>
        <p:spPr>
          <a:xfrm>
            <a:off x="3655643" y="5320403"/>
            <a:ext cx="325729" cy="2939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05A4DAB-F8C1-FB7A-E6DB-1FC42F779708}"/>
              </a:ext>
            </a:extLst>
          </p:cNvPr>
          <p:cNvSpPr/>
          <p:nvPr/>
        </p:nvSpPr>
        <p:spPr>
          <a:xfrm>
            <a:off x="3240075" y="5322569"/>
            <a:ext cx="325729" cy="2939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E7A9CD6-95F3-1AAF-BA0C-5A115E84C983}"/>
              </a:ext>
            </a:extLst>
          </p:cNvPr>
          <p:cNvSpPr/>
          <p:nvPr/>
        </p:nvSpPr>
        <p:spPr>
          <a:xfrm>
            <a:off x="4047016" y="5313677"/>
            <a:ext cx="325729" cy="2939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56572DB-DDF3-5CB7-CA47-05FA49DDA9BF}"/>
              </a:ext>
            </a:extLst>
          </p:cNvPr>
          <p:cNvSpPr/>
          <p:nvPr/>
        </p:nvSpPr>
        <p:spPr>
          <a:xfrm>
            <a:off x="4425946" y="5294636"/>
            <a:ext cx="325729" cy="2939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581791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4AAC2-8321-51D3-A0AE-A8E7E241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22300"/>
            <a:ext cx="10353762" cy="970450"/>
          </a:xfrm>
        </p:spPr>
        <p:txBody>
          <a:bodyPr/>
          <a:lstStyle/>
          <a:p>
            <a:pPr algn="r" rtl="1"/>
            <a:r>
              <a:rPr lang="he-IL" dirty="0"/>
              <a:t>דברים שאני חייב לכם </a:t>
            </a:r>
            <a:r>
              <a:rPr lang="he-IL" dirty="0">
                <a:sym typeface="Wingdings" panose="05000000000000000000" pitchFamily="2" charset="2"/>
              </a:rPr>
              <a:t></a:t>
            </a:r>
            <a:endParaRPr lang="en-IL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9FD107B-4C5E-E1F0-86F5-9A5F59F8C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058751"/>
          </a:xfrm>
        </p:spPr>
        <p:txBody>
          <a:bodyPr>
            <a:normAutofit/>
          </a:bodyPr>
          <a:lstStyle/>
          <a:p>
            <a:pPr algn="r" rtl="1"/>
            <a:r>
              <a:rPr lang="he-IL" sz="2800" dirty="0"/>
              <a:t>איך לחשב נפח של כדור ב4 מימד?</a:t>
            </a:r>
          </a:p>
          <a:p>
            <a:pPr algn="r" rtl="1"/>
            <a:r>
              <a:rPr lang="he-IL" sz="2800" dirty="0"/>
              <a:t>איך לחשב נפח של מקבילון בהינתן הוקטורים?</a:t>
            </a:r>
          </a:p>
        </p:txBody>
      </p:sp>
      <p:sp>
        <p:nvSpPr>
          <p:cNvPr id="3" name="PB">
            <a:extLst>
              <a:ext uri="{FF2B5EF4-FFF2-40B4-BE49-F238E27FC236}">
                <a16:creationId xmlns:a16="http://schemas.microsoft.com/office/drawing/2014/main" id="{B5AD23C0-09AF-2657-20F0-B40D682BD8C5}"/>
              </a:ext>
            </a:extLst>
          </p:cNvPr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7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041059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382</TotalTime>
  <Words>1160</Words>
  <Application>Microsoft Office PowerPoint</Application>
  <PresentationFormat>Widescreen</PresentationFormat>
  <Paragraphs>146</Paragraphs>
  <Slides>28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Calibri</vt:lpstr>
      <vt:lpstr>Calisto MT</vt:lpstr>
      <vt:lpstr>Cambria Math</vt:lpstr>
      <vt:lpstr>Wingdings</vt:lpstr>
      <vt:lpstr>Wingdings 2</vt:lpstr>
      <vt:lpstr>Slate</vt:lpstr>
      <vt:lpstr>על יונים וריבועים</vt:lpstr>
      <vt:lpstr> מטרות ההרצאה</vt:lpstr>
      <vt:lpstr>מה יהיה לנו היום</vt:lpstr>
      <vt:lpstr>מה קורה שמחברים ריבועים?</vt:lpstr>
      <vt:lpstr>ז'וזף לואי לגראנז' (1736-1813)</vt:lpstr>
      <vt:lpstr>משפט לגארנז' (1770)</vt:lpstr>
      <vt:lpstr>זהות מגניבה – מספרים מרוכבים</vt:lpstr>
      <vt:lpstr>זהות מגניבה – קוונטריונים</vt:lpstr>
      <vt:lpstr>PowerPoint Presentation</vt:lpstr>
      <vt:lpstr>רדוקציה לראשוניים</vt:lpstr>
      <vt:lpstr>ועכשיו למשהו שונה לגמרי</vt:lpstr>
      <vt:lpstr>עיקרון שובך היונים</vt:lpstr>
      <vt:lpstr>שובך גיאומטרי</vt:lpstr>
      <vt:lpstr>למת בליכשפלט (Blichfeldt 1914)</vt:lpstr>
      <vt:lpstr>קבוצות קמורות</vt:lpstr>
      <vt:lpstr>הלמה של מינקובסקי (1889)</vt:lpstr>
      <vt:lpstr>משפט מינקובסקי במרחב 4 מימדי</vt:lpstr>
      <vt:lpstr>הכללה לסריגים</vt:lpstr>
      <vt:lpstr>משפט מינקובסקי לסריגים</vt:lpstr>
      <vt:lpstr>חזרה למשפט לגראנז'</vt:lpstr>
      <vt:lpstr>בנית הסריג</vt:lpstr>
      <vt:lpstr>אורכי וקטורים בסריג</vt:lpstr>
      <vt:lpstr>פינאלה</vt:lpstr>
      <vt:lpstr>סיכום</vt:lpstr>
      <vt:lpstr>למה כל זה טוב?</vt:lpstr>
      <vt:lpstr>שאלות</vt:lpstr>
      <vt:lpstr>מה הלאה?</vt:lpstr>
      <vt:lpstr>דברים שאני חייב לכם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על יונים וריבועים</dc:title>
  <dc:creator>Elad Sayag</dc:creator>
  <cp:lastModifiedBy>Elad Sayag</cp:lastModifiedBy>
  <cp:revision>43</cp:revision>
  <dcterms:created xsi:type="dcterms:W3CDTF">2022-07-23T09:30:17Z</dcterms:created>
  <dcterms:modified xsi:type="dcterms:W3CDTF">2026-08-27T13:14:18Z</dcterms:modified>
</cp:coreProperties>
</file>